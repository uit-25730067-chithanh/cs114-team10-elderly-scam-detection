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BÌA
- Người trình bày Khối 1 (slide 1–8, ~4 phút 30 giây): Đặng Chí Thanh
- Giới thiệu tên đề tài chuẩn và các thành viên; nhấn mạnh: bảo vệ người cao tuổi khỏi lừa đảo tin nhắn tiếng Việt
- Trước khi chiếu: PowerPoint → chọn tất cả slide → Transitions → Fade (0.3s) → Apply To All. Không dùng script chèn XML (tránh lỗi file)
- Phân bổ 15 phút: Thanh slide 1–8 (4:30) · Cẩm slide 9–12 (5:00) · Sơn slide 13–18 (4:30) · dư ~1 phút. Slide phân đoạn (5, 9, 13, 15, 19) không nói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AGENDA
- Nói không quá 20 giây: đọc nhanh 5 phần và ai trình bày phần nào
- Chuyển sang: PHẦN 1 — Bối cảnh &amp; Vấn đề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BỐI CẢNH
- Mở bằng câu hỏi gây suy nghĩ
- Quy mô dataset: 2.193 mẫu thực tế; bộ dữ liệu chính công bố là tin nhắn thật, không do AI sinh
- 4 nhóm bẫy tâm lý — đóng góp học thuật chính của nhóm
- Bài toán ưu tiên Recall vì bỏ lọt tin lừa đảo nguy hiểm hơn báo nhầm
- Chuyển sang: mục tiêu nghiên cứu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MỤC TIÊU
- Đọc nhanh 4 mục tiêu
- Nhấn: cả 4 mô hình đều vượt chỉ tiêu đề ra
- Chuyển sang: PHẦN 2 — Dữ liệu &amp; Phương pháp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6 — DATASET
- Nhấn mạnh Zero Synthetic Text (100% tin nhắn đời thực)
- 7 tầng kiểm toán; mỗi mẫu có source_url truy vết (bộ dữ liệu SMS công khai trên GitHub + báo chí)
- Cách nói đúng về thu thập: 3 thành viên TUYỂN CHỌN và gán nhãn từ nguồn công khai (Thanh 1.773 bình thường; Sơn 215 và Cẩm 205 lừa đảo), không phải tự soạn tin nhắn
- Mất cân bằng lớp 4.2:1 nên dùng Recall/F1, không dùng Accuracy
- Chuyển sang: 4 nhóm bẫy tâm lý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7 — NHÓM BẪY TÂM LÝ
- 4 pattern lừa đảo nhắm vào người cao tuổi được phát hiện trong dữ liệu
- Giả dịch vụ công (159) và Đe dọa quyền lực (127) chiếm 68% (286/420)
- Nhóm Quà tặng (46) ít nhưng rất tinh vi
- Chuyển sang: pipeline kỹ thuật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8 — PIPELINE
- Giải thích ngắn gọn 5 bước
- Nhấn mạnh Zero-Leakage: chia tập TRƯỚC, fit vectorizer chỉ trên train
- Vector cuối: 5.015 chiều (5.000 TF-IDF + 15 đặc trưng phụ)
- Naive Bayes chỉ dùng TF-IDF vì đặc trưng phụ có giá trị âm không hợp với MultinomialNB
- Teencode: từ điển do nhóm tự biên soạn (160 mục), cố ý loại các từ đơn mơ hồ để tránh biến đổi sai nghĩa; đặc trưng has_leet_speak để mô hình tự học phần còn lại
- Chuyển sang: PHẦN 3 — Mô hình &amp; Kết quả (Cẩm trình bày)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10 — BẢNG SO SÁNH MÔ HÌNH
- Người trình bày Khối 2 (slide 9–12, ~5 phút): Bùi Thị Mỷ Cẩm
- XGBoost best overall: F1=95.35%, Recall=97.62%
- SVM có ROC-AUC cao nhất (99.86%) nhưng F1 thấp hơn XGBoost
- Naive Bayes vẫn đạt F1=88.64% — baseline tốt, chỉ dùng TF-IDF
- Nhấn: tất cả đều vượt chỉ tiêu GV yêu cầu
- Q&amp;A: ROC-AUC Random Forest = 99.77% — anh Thanh đánh giá lại random_forest.pkl trên tập test (0.99765), khớp với ảnh ROC ở slide 11
- Q&amp;A: FN của từng mô hình — XGB 2, RF 2, SVM 3, NB 6
- Q&amp;A: dùng scale_pos_weight thay vì SMOTE để giữ nguyên tắc Zero Synthetic Text (không sinh mẫu giả)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11 — ROC &amp; PR
- ROC-AUC ≥ 99% cho tất cả: mô hình tách lớp tốt
- Vì dữ liệu mất cân bằng (4.2:1) nên PR curve phản ánh sát hơn ROC
- Chuyển sang: SHAP giải thích mô hình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12 — SHAP XAI
- Điểm học thuật quan trọng: giải thích được vì sao mô hình kết luận lừa đảo
- Cách đọc SHAP beeswarm: trục ngang là mức đẩy về lớp Lừa đảo (bên phải) hay Bình thường (bên trái); màu là giá trị đặc trưng (đỏ cao, xanh thấp)
- Top-20 xếp theo MỨC QUAN TRỌNG, không phải theo hướng: một nửa số từ thiên về tin BÌNH THƯỜNG (money, number, time, liên_hệ 198, soạn, viettel — tỉ lệ lừa đảo ≤ 2%)
- Q&amp;A 'money là gì?': là thẻ ẩn danh [MONEY] có sẵn trong bộ dữ liệu gốc (che số tiền), KHÔNG phải kết quả regex của nhóm; xuất hiện chủ yếu ở tin bình thường (1.221/1.236 dòng thô)
- Q&amp;A 'mô hình có học vẹt nguồn dữ liệu không?': hai nguồn được ẩn danh bằng thẻ khác nhau (bình thường: [MONEY]/[NUMBER]/[TIME]; lừa đảo: [ĐƯỜNG_DẪN]/[THƯƠNG_HIỆU]/[SỐ_TIỀN]). Kiểm tra: bỏ toàn bộ 453 đặc trưng chứa thẻ rồi huấn luyện lại đúng quy trình notebook — XGBoost F1 95.35% → 94.25%, Naive Bayes F1 88.64% → 85.03% (kết quả: reports/ablation_masking_tags.json)
- Chuyển sang: PHẦN 4 — Demo (Sơn trình bày)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14 — DEMO
- Người trình bày Khối 3 (slide 13–18, ~4 phút 30 giây): Hoàng Cao Sơn — 60 giây live demo hoặc dùng screenshot
- Nếu cho phép: live demo trực tiếp (streamlit run demo/app.py)
- Nhấn: trợ năng cho người cao tuổi (chỉnh cỡ chữ, hotline 1 chạm)
- Chuyển sang: PHẦN 5 — Kết luận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16 — KẾT LUẬN
- Hoàn thành đầy đủ các mục tiêu đề ra; XGBoost là mô hình tốt nhất
- Điểm mạnh: dữ liệu thực tế có nguồn truy vết + XAI giải thích + demo trợ năng
- Hạn chế trung thực: test chỉ 84 mẫu lừa đảo; hai nguồn dữ liệu ẩn danh bằng thẻ khác nhau (đã kiểm tra bằng thử nghiệm bỏ thẻ, hiệu năng XGBoost giảm ~1 điểm F1)
- Mở ra: PhoBERT (cần GPU, chưa thử nghiệm) và lừa đảo qua giọng nói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17 — THAM KHẢO
- Thứ tự theo vòng đời dự án: nguồn dữ liệu [1]–[2] → tiền xử lý NLP [3]–[6] → thuật toán học máy [7]–[11] → XAI [12]–[13] → trợ năng web [14] → hướng phát triển [15]
- Q&amp;A về [1]: trích đúng theo yêu cầu của tác giả bộ dữ liệu trong README (bài IEEE Access 2026); nhóm không khẳng định bài đã xuất bản (chưa có tập/DOI). Điều nhóm dùng và kiểm chứng được là bộ dữ liệu công khai trên GitHub (CC BY 4.0), mỗi mẫu có URL truy vết trong dataset.csv
- 1.944/2.193 mẫu (88.7%) đến từ repo [1]; 249 mẫu lừa đảo còn lại từ nguồn [2]
- [10] Platt: trích theo bản đã xuất bản (MIT Press, 2000, pp. 61–74); bản thảo năm 1999 mang tên dài 'Probabilistic Outputs for Support Vector Machines and Comparisons to Regularized Likelihood Methods'
- Chỉ 15/18 tài liệu lên slide; LIBLINEAR (LinearSVC), McCallum &amp; Nigam (Naive Bayes) và Streamlit nằm trong báo cáo Word. Bằng chứng kiểm chứng: reports/research-cam-phase09-references-lifecycle.md
- Q&amp;A đạo đức/PII: khử PII 100%; dữ liệu lừa đảo lấy từ nguồn công khai (407/420 mẫu từ các bộ dữ liệu GitHub, 13/420 từ báo chí và video điều tra), mọi mẫu có source_url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18 — CẢM ƠN
- Mời Thầy và hội đồng đặt câu hỏi
- Backup slides (19–22): siêu tham số, confusion matrices, learning curves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20 — SIÊU THAM SỐ
- XGBoost và Random Forest: RandomizedSearchCV n_iter=25, 5-fold; SVM và Naive Bayes: GridSearchCV 5-fold
- Naive Bayes chọn alpha=0.01 và chỉ dùng TF-IDF vì đặc trưng phụ có giá trị âm
- CV F1 (train) gần với F1 test → mô hình khái quát tốt
- Q&amp;A SVM: LinearSVC chỉ có decision_function; CalibratedClassifierCV (Platt scaling qua 5-fold) đổi khoảng cách thành xác suất [0, 1]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21 — CONFUSION MATRIX
- FN/FP tính từ Recall/Precision trong log trên tập test 439 mẫu (84 lừa đảo)
- XGBoost và Random Forest cùng FN nhỏ nhất; Random Forest báo nhầm nhiều hơn (FP cao hơn)
- Naive Bayes FN và FP cao nhất — vai trò baseline
- Q&amp;A 'test 84 mẫu có đủ tin cậy?': nhóm thừa nhận hạn chế; bù bằng 5-fold CV trên 1.754 mẫu train (CV F1 XGBoost = 0.9603)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22 — LEARNING CURVES
- Không nói 'không overfit': Train F1 gần 1.0 nhưng Validation F1 thấp hơn ~3-6 điểm (overfit nhẹ, đặc thù mô hình cây trên 5.015 chiều)
- Điểm tích cực: Validation F1 vẫn đang tăng theo số mẫu và F1 test sát CV F1 nên không có dấu hiệu khái quát kém
- Naive Bayes: Train F1 giảm, Validation tăng dần — hội tụ ~0.91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560320"/>
            <a:ext cx="9144000" cy="2583180"/>
          </a:xfrm>
          <a:prstGeom prst="rect">
            <a:avLst/>
          </a:prstGeom>
          <a:solidFill>
            <a:srgbClr val="102E5E"/>
          </a:solidFill>
          <a:ln/>
        </p:spPr>
      </p:sp>
      <p:pic>
        <p:nvPicPr>
          <p:cNvPr id="3" name="Image 0" descr="/Users/tcdtist/dev/uit/cs114/assignments/Final/draft/scam-detection/reports/slides/assets/logo_uit_dhqg_tr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320040"/>
            <a:ext cx="4937760" cy="73253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234440"/>
            <a:ext cx="8229600" cy="12344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Nghiên cứu và Xây dựng Hệ thống Phát hiện Tin nhắn &amp; Kịch bản Thao túng Tâm lý Lừa đảo nhắm vào Người cao tuổi tại Việt Nam</a:t>
            </a:r>
            <a:endParaRPr lang="en-US" sz="2200" dirty="0"/>
          </a:p>
        </p:txBody>
      </p:sp>
      <p:sp>
        <p:nvSpPr>
          <p:cNvPr id="5" name="Text 2"/>
          <p:cNvSpPr/>
          <p:nvPr/>
        </p:nvSpPr>
        <p:spPr>
          <a:xfrm>
            <a:off x="457200" y="2697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Vietnamese Elderly Scam Detection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 — Máy học  |  Nhóm 10  |  ThS. Cáp Phạm Đình Thăng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(25730067)  ·  Bùi Thị Mỷ Cẩm (25730013)  ·  Hoàng Cao Sơn (25730061)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23/09/2026  |  UIT —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Lộ trình báo cáo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Lộ trình báo cáo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7160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Bối cảnh, vấn đề và mục tiêu của nhóm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7160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 &amp; Phương pháp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37160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mẫu, 4 nhóm bẫy tâm lý, pipeline tiền xử lý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37160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Mô hình &amp; Kết quả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37160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hình, ROC/PR, giải thích SHAP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663440" y="114300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14300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77840" y="1234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ứng dụng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160020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Streamlit thân thiện với người cao tuổi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663440" y="233172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9" name="Text 27"/>
          <p:cNvSpPr/>
          <p:nvPr/>
        </p:nvSpPr>
        <p:spPr>
          <a:xfrm>
            <a:off x="4663440" y="233172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</a:t>
            </a:r>
            <a:endParaRPr lang="en-US" sz="1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77840" y="242316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 &amp; Hướng phát triển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5577840" y="278892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quả, hạn chế đã biết, PhoBERT và voice scam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663440" y="3520440"/>
            <a:ext cx="4023360" cy="105156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34" name="Text 32"/>
          <p:cNvSpPr/>
          <p:nvPr/>
        </p:nvSpPr>
        <p:spPr>
          <a:xfrm>
            <a:off x="4663440" y="3520440"/>
            <a:ext cx="777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77840" y="361188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trả lời phản biện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5577840" y="3977640"/>
            <a:ext cx="3017520" cy="32918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số, Confusion Matrix, Learning Curves</a:t>
            </a:r>
            <a:endParaRPr lang="en-US" sz="1250" dirty="0"/>
          </a:p>
        </p:txBody>
      </p:sp>
      <p:sp>
        <p:nvSpPr>
          <p:cNvPr id="38" name="Text 35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22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Bối cảnh &amp; Vấn đề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2.193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59436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Mẫu tin nhắn thực tế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1.773 bình thường · 420 lừa đảo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có URL nguồn truy vết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9184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29184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42900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bẫy tâm lý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42900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Quyền lực · Gia đình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Quà tặng · Dịch vụ công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26480" y="1143000"/>
            <a:ext cx="2560320" cy="18745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1143000"/>
            <a:ext cx="2560320" cy="5486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6263640" y="1280160"/>
            <a:ext cx="2286000" cy="6858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5FC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0%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6263640" y="1984248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do AI tự sinh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63640" y="233172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tin nhắn đời thực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 · 0% PII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3291840"/>
            <a:ext cx="8229600" cy="13258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7200" y="3291840"/>
            <a:ext cx="54864" cy="13258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685800" y="3364992"/>
            <a:ext cx="786384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i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“Tại sao người cao tuổi dễ bị lừa đảo qua tin nhắn hơn?”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685800" y="4005072"/>
            <a:ext cx="786384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toán: phát hiện sớm tin nhắn thao túng tâm lý — ưu tiên không bỏ lọt (Recall), vì bỏ sót nguy hiểm hơn báo nhầm.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28" name="Text 25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22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1 · Giới thiệu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&amp; Đóng góp của Nhóm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ML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· Random Forest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· SVM Linear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tập test 439 mẫu (stratified 80/20)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Vượt chỉ tiêu kỹ thuật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≥ 88% · Recall ≥ 92%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đạt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Ưu tiên Recall: bỏ lọt nguy hiểm hơn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AI (XAI)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436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Beeswarm trên XGBoost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đồng thuận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Trả lời: vì sao tin này bị coi là lừa đảo?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663440" y="2926080"/>
            <a:ext cx="4023360" cy="16459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63440" y="2926080"/>
            <a:ext cx="54864" cy="1645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1" name="Text 19"/>
          <p:cNvSpPr/>
          <p:nvPr/>
        </p:nvSpPr>
        <p:spPr>
          <a:xfrm>
            <a:off x="4800600" y="299923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Streamlit cho người cao tuổi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800600" y="3337560"/>
            <a:ext cx="3794760" cy="1143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Chữ 100–150%, hotline 156/113 một chạm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16/16 kiểm thử E2E Playwright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22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Dữ liệu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 thập  ·  Tiền xử lý  ·  Feature Engineering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2.193 Mẫu Thực Tế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343400" cy="26060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· Stratified Split 80/20 · nguồn [1], [2]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Bình thường (label 0): 1.773 mẫu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Lừa đảo (label 1): 420 mẫu — tỉ lệ 4.2:1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toán 7 tầng: 0% PII, 0% văn bản tổng hợp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Tuyển chọn: Thanh 1.773 · Sơn 215 · Cẩm 205</a:t>
            </a:r>
            <a:endParaRPr lang="en-US" sz="150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1.754 · Test 439 (355 bình thường + 84 lừa đảo)</a:t>
            </a:r>
            <a:endParaRPr lang="en-US" sz="1500" dirty="0"/>
          </a:p>
        </p:txBody>
      </p:sp>
      <p:pic>
        <p:nvPicPr>
          <p:cNvPr id="8" name="Image 0" descr="/Users/tcdtist/dev/uit/cs114/assignments/Final/draft/scam-detection/reports/figures/label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0" y="1253242"/>
            <a:ext cx="3749040" cy="229411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937760" y="362051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bố nhãn (train + test)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57200" y="3931920"/>
            <a:ext cx="8229600" cy="68580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3931920"/>
            <a:ext cx="7955280" cy="68580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Mất cân bằng 4.2:1 → đánh giá bằng Recall / F1 thay vì Accuracy; XGBoost bù bằng scale_pos_weight = 4.22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22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Nhóm Bẫy Tâm lý trong Dataset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scam_category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06918"/>
            <a:ext cx="4023360" cy="1958163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338234"/>
            <a:ext cx="4023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mẫu lừa đảo theo nhóm bẫy tâm lý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663440" y="1143000"/>
          <a:ext cx="40233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48640"/>
                <a:gridCol w="2011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Nhóm bẫy tâm lý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Mẫu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Kịch bản tiêu biểu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Đe dọa quyền lực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cảnh sát / tòa án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Khẩn cấp gia đình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cháu tai nạn, cần tiền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Dụ dỗ quà tặng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Trúng thưởng, ưu đãi sức khỏe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Giả dịch vụ công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BHXH, điện lực giả mạo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457200" y="3657600"/>
            <a:ext cx="8229600" cy="9601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57200" y="3657600"/>
            <a:ext cx="54864" cy="9601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2" name="Text 8"/>
          <p:cNvSpPr/>
          <p:nvPr/>
        </p:nvSpPr>
        <p:spPr>
          <a:xfrm>
            <a:off x="640080" y="3657600"/>
            <a:ext cx="7955280" cy="96012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420 mẫu lừa đảo. Giả dịch vụ công (159) và Đe dọa quyền lực (127) chiếm 68%; nhóm Quà tặng (46) ít nhất nhưng tinh vi nhất — mỗi nhóm khai thác một điểm yếu tâm lý khác nhau.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22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2 · Dữ liệu &amp; Phương pháp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Pipeline Tiền xử lý &amp; Feature Engineering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Unicode NFC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[3]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Dấu thanh [5]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984248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2" name="Shape 10"/>
          <p:cNvSpPr/>
          <p:nvPr/>
        </p:nvSpPr>
        <p:spPr>
          <a:xfrm>
            <a:off x="2135124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135124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4" name="Text 12"/>
          <p:cNvSpPr/>
          <p:nvPr/>
        </p:nvSpPr>
        <p:spPr>
          <a:xfrm>
            <a:off x="2272284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Teencode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272284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từ viết tắt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+ 22 mẫu leet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62172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17" name="Shape 15"/>
          <p:cNvSpPr/>
          <p:nvPr/>
        </p:nvSpPr>
        <p:spPr>
          <a:xfrm>
            <a:off x="3813048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13048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9" name="Text 17"/>
          <p:cNvSpPr/>
          <p:nvPr/>
        </p:nvSpPr>
        <p:spPr>
          <a:xfrm>
            <a:off x="3950208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Tách từ (PyVi)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950208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Ghép âm tiết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thành từ [4]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340096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2" name="Shape 20"/>
          <p:cNvSpPr/>
          <p:nvPr/>
        </p:nvSpPr>
        <p:spPr>
          <a:xfrm>
            <a:off x="5490972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0972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4" name="Text 22"/>
          <p:cNvSpPr/>
          <p:nvPr/>
        </p:nvSpPr>
        <p:spPr>
          <a:xfrm>
            <a:off x="5628132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TF-IDF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28132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5.000 đặc trưng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n-gram (1, 2) [6]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7018020" y="1737360"/>
            <a:ext cx="141732" cy="228600"/>
          </a:xfrm>
          <a:prstGeom prst="rightArrow">
            <a:avLst/>
          </a:prstGeom>
          <a:solidFill>
            <a:srgbClr val="1E5FC2"/>
          </a:solidFill>
          <a:ln/>
        </p:spPr>
      </p:sp>
      <p:sp>
        <p:nvSpPr>
          <p:cNvPr id="27" name="Shape 25"/>
          <p:cNvSpPr/>
          <p:nvPr/>
        </p:nvSpPr>
        <p:spPr>
          <a:xfrm>
            <a:off x="7168896" y="1143000"/>
            <a:ext cx="1517904" cy="14173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168896" y="1143000"/>
            <a:ext cx="54864" cy="14173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29" name="Text 27"/>
          <p:cNvSpPr/>
          <p:nvPr/>
        </p:nvSpPr>
        <p:spPr>
          <a:xfrm>
            <a:off x="7306056" y="1216152"/>
            <a:ext cx="1289304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Đặc trưng phụ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7306056" y="1554480"/>
            <a:ext cx="1289304" cy="9144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đặc trưng: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URL, SĐT, OTP…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7200" y="2697480"/>
            <a:ext cx="822960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2697480"/>
            <a:ext cx="795528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 đầu vào mô hình: 5.015 chiều (5.000 TF-IDF + 15 đặc trưng phụ) · Naive Bayes chỉ dùng 5.000 TF-IDF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57200" y="3337560"/>
            <a:ext cx="8229600" cy="12801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7200" y="3337560"/>
            <a:ext cx="54864" cy="1280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Zero-Leakage Protocol</a:t>
            </a:r>
            <a:endParaRPr lang="en-US" sz="1500" dirty="0"/>
          </a:p>
        </p:txBody>
      </p:sp>
      <p:sp>
        <p:nvSpPr>
          <p:cNvPr id="36" name="Text 34"/>
          <p:cNvSpPr/>
          <p:nvPr/>
        </p:nvSpPr>
        <p:spPr>
          <a:xfrm>
            <a:off x="594360" y="3749040"/>
            <a:ext cx="8001000" cy="77724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Chia Train/Test (stratified 80/20) TRƯỚC mọi bước học từ dữ liệu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fit() TF-IDF &amp; scaler chỉ trên X_train → transform() cho Train và Test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Vectorizer &amp; scaler không bao giờ “nhìn thấy” tập Test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22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Naive Bayes  ·  Random Forest  ·  XGBoost  ·  SVM Linear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sánh 4 Mô hình Machine Learning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1143000"/>
                <a:gridCol w="1143000"/>
                <a:gridCol w="1143000"/>
                <a:gridCol w="1143000"/>
                <a:gridCol w="11430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(tốt nhất tổng thể)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95.35%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97.95%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93.10%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97.62%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94.25%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92.86%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88.64%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99.11%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457200" y="3337560"/>
            <a:ext cx="8229600" cy="96012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7200" y="3337560"/>
            <a:ext cx="54864" cy="9601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7"/>
          <p:cNvSpPr/>
          <p:nvPr/>
        </p:nvSpPr>
        <p:spPr>
          <a:xfrm>
            <a:off x="594360" y="3410712"/>
            <a:ext cx="8001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luận: XGBoost — mô hình tốt nhất tổng thể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94360" y="3749040"/>
            <a:ext cx="8001000" cy="4572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2: chỉ bỏ lọt 2/84 tin lừa đảo trong tập test (Recall 97.62%) · FP = 6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Cả 4 mô hình đều vượt chỉ tiêu F1 ≥ 88% và Recall ≥ 92% · Số in đậm xanh = tốt nhất theo cột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37083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tập test 439 mẫu (355 bình thường, 84 lừa đảo) · XGBoost [7], Random Forest [8], SVM [9] hiệu chỉnh xác suất [10], scikit-learn [11]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22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ROC Curves &amp; Precision-Recall Curves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roc_curve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2617" y="1097280"/>
            <a:ext cx="3381087" cy="2743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ROC Curves — tất cả AUC ≥ 99%</a:t>
            </a:r>
            <a:endParaRPr lang="en-US" sz="1000" dirty="0"/>
          </a:p>
        </p:txBody>
      </p:sp>
      <p:pic>
        <p:nvPicPr>
          <p:cNvPr id="9" name="Image 1" descr="/Users/tcdtist/dev/uit/cs114/assignments/Final/draft/scam-detection/reports/figures/precision_recall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8151" y="1097280"/>
            <a:ext cx="3385378" cy="2743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3913632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Precision-Recall Curves — 4 mô hình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457200" y="4251960"/>
            <a:ext cx="8229600" cy="41148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57200" y="4251960"/>
            <a:ext cx="54864" cy="411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3" name="Text 9"/>
          <p:cNvSpPr/>
          <p:nvPr/>
        </p:nvSpPr>
        <p:spPr>
          <a:xfrm>
            <a:off x="640080" y="4251960"/>
            <a:ext cx="7955280" cy="41148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của 4 mô hình: 99.11% – 99.86% → cả 4 tách lớp rất tốt; khác biệt nằm ở FN/FP và Precision.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6" name="Text 11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22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3 · Mô hình &amp; Kết quả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Giải thích Mô hình — SHAP Analysis (XAI)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338328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TreeExplainer trên XGBoost [12], [13] — không phải “hộp đen”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Top-20 từ khóa quan trọng (đồng thuận 4 mô hình):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lừa đảo: mày, gấp, viện_phí, thuế, số_định_danh (100% tin chứa từ này là lừa đảo)</a:t>
            </a:r>
            <a:endParaRPr lang="en-US" sz="1400" dirty="0"/>
          </a:p>
          <a:p>
            <a:pPr lvl="1" marL="3556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Thiên về bình thường: money, number, time, liên_hệ 198, soạn, viettel (≤ 2% là lừa đảo)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Lưu ý: money, number, time, đường_dẫn… là thẻ ẩn danh có sẵn trong bộ dữ liệu gốc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Bỏ 453 đặc trưng chứa thẻ này: F1 XGBoost 95.35% → 94.25%, Recall giữ 97.62%</a:t>
            </a:r>
            <a:endParaRPr lang="en-US" sz="1400" dirty="0"/>
          </a:p>
        </p:txBody>
      </p:sp>
      <p:pic>
        <p:nvPicPr>
          <p:cNvPr id="8" name="Image 0" descr="/Users/tcdtist/dev/uit/cs114/assignments/Final/draft/scam-detection/reports/figures/shap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1180" y="1097280"/>
            <a:ext cx="2999320" cy="35661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dụng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Web App  ·  Trợ năng cho người cao tuổi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4 · Demo ứng dụng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Demo: Streamlit Web Application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demo_03_scam_detection_verdi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" y="1143000"/>
            <a:ext cx="4800600" cy="32004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4416552"/>
            <a:ext cx="4937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phân tích một tin nhắn lừa đảo trên giao diện demo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669280" y="1143000"/>
            <a:ext cx="3017520" cy="347472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mô hình trong 1 ứng dụng (mặc định XGBoost)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Chỉnh cỡ chữ 100% · 125% · 150%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phản chữ 14.6:1, vượt mức WCAG 2.1 AA (4.5:1) [14]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Hotline khẩn cấp 156 / 113 gọi 1 chạm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Dán tin nhắn → tự động phân tích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Trích xuất 15 đặc trưng tâm lý theo thời gian thực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Tối ưu điện thoại · 16/16 kiểm thử E2E Playwright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22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phát triển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 ·  Hạn chế đã biết  ·  Hướng mở rộng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5 · Kết luận &amp; Hướng phát triển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luận &amp; Hướng Phát triển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2788920"/>
          </a:xfrm>
          <a:prstGeom prst="rect">
            <a:avLst/>
          </a:prstGeom>
          <a:solidFill>
            <a:srgbClr val="EFF6FF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1143000"/>
            <a:ext cx="54864" cy="27889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đạt được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9436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= 95.35% (mục tiêu ≥ 88%)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= 97.62% (mục tiêu ≥ 92%)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 4 mô hình (tối thiểu 3)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2.193 mẫu thực tế, Zero Synthetic Text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XAI giải thích quyết định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thân thiện người cao tuổi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663440" y="1143000"/>
            <a:ext cx="4023360" cy="2788920"/>
          </a:xfrm>
          <a:prstGeom prst="rect">
            <a:avLst/>
          </a:prstGeom>
          <a:solidFill>
            <a:srgbClr val="FFFBE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663440" y="1143000"/>
            <a:ext cx="54864" cy="2788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4800600" y="1216152"/>
            <a:ext cx="379476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00600" y="1554480"/>
            <a:ext cx="3794760" cy="22860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Tích hợp PhoBERT (BERT tiếng Việt) [15]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sang lừa đảo qua giọng nói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cho ứng dụng ngân hàng / nhà mạng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rộng dataset lên 10.000+ mẫu</a:t>
            </a:r>
            <a:endParaRPr lang="en-US" sz="15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giám sát thời gian thực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EF3C7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4023360"/>
            <a:ext cx="54864" cy="5943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23360"/>
            <a:ext cx="7955280" cy="594360"/>
          </a:xfrm>
          <a:prstGeom prst="rect">
            <a:avLst/>
          </a:prstGeom>
          <a:noFill/>
          <a:ln/>
        </p:spPr>
        <p:txBody>
          <a:bodyPr wrap="square" lIns="25400" tIns="0" rIns="0" bIns="2540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chế đã biết: tập test chỉ có 84 tin lừa đảo (mỗi FN làm Recall đổi ~1.2 điểm); dữ liệu gộp từ nhiều nguồn ẩn danh khác kiểu thẻ — bỏ toàn bộ thẻ, F1 XGBoost 95.35% → 94.25%.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22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 tham khảo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tham khảo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DỮ LIỆU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 T. T. Tran et al., “Vietnamese SMS Dataset with Quality Assurance,” IEEE Access, 2026 (theo trích dẫn của tác giả; chưa có tập/DOI). GitHub: trannguyenthaituan251209/vietnamese_sms_dataset.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bổ sung của tập lừa đảo (249/420 mẫu): GitHub ghitatruongle/lachancuocgoi, duynguyenhoang22/SMS_Phishing_Detection và ViSmish_Detection; báo chí, VTV24 (13 mẫu).</a:t>
            </a:r>
            <a:endParaRPr lang="en-US" sz="1000" dirty="0"/>
          </a:p>
          <a:p>
            <a:pPr indent="0" marL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TIỀN XỬ LÝ NLP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Unicode Consortium, “UAX #15: Unicode Normalization Forms,” Unicode 18.0.0, 12 Aug. 2026.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V.-T. Tran, “PyVi: Python Vietnamese Toolkit,” v0.1.1. GitHub: trungtv/pyvi.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Underthesea NLP, “underthesea: Vietnamese NLP Toolkit,” v9.5.0. GitHub: undertheseanlp/underthesea.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Salton and C. Buckley, “Term-weighting approaches in automatic text retrieval,” Inf. Process. Manage., 24(5):513–523, 1988.</a:t>
            </a:r>
            <a:endParaRPr lang="en-US" sz="1000" dirty="0"/>
          </a:p>
          <a:p>
            <a:pPr indent="0" marL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T. Chen and C. Guestrin, “XGBoost: A scalable tree boosting system,” KDD 2016, pp. 785–794.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L. Breiman, “Random forests,” Mach. Learn., 45(1):5–32, 2001.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63440" y="1078992"/>
            <a:ext cx="402336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HỌC MÁY (TIẾP)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Cortes and V. Vapnik, “Support-vector networks,” Mach. Learn., 20(3):273–297, 1995.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Platt, “Probabilities for SV machines,” in Advances in Large-Margin Classifiers, MIT Press, 2000, pp. 61–74.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Pedregosa et al., “Scikit-learn: Machine learning in Python,” JMLR 12:2825–2830, 2011.</a:t>
            </a:r>
            <a:endParaRPr lang="en-US" sz="1000" dirty="0"/>
          </a:p>
          <a:p>
            <a:pPr indent="0" marL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GIẢI THÍCH MÔ HÌNH (XAI)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and S.-I. Lee, “A unified approach to interpreting model predictions,” NeurIPS 30, 2017.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S. M. Lundberg et al., “From local explanations to global understanding with explainable AI for trees,” Nat. Mach. Intell., 2(1):56–67, 2020.</a:t>
            </a:r>
            <a:endParaRPr lang="en-US" sz="1000" dirty="0"/>
          </a:p>
          <a:p>
            <a:pPr indent="0" marL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TRỢ NĂNG WEB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W3C, “Web Content Accessibility Guidelines (WCAG) 2.1,” Recommendation, 5 Jun. 2018 (updated 6 May 2025).</a:t>
            </a:r>
            <a:endParaRPr lang="en-US" sz="1000" dirty="0"/>
          </a:p>
          <a:p>
            <a:pPr indent="0" marL="0">
              <a:lnSpc>
                <a:spcPct val="95000"/>
              </a:lnSpc>
              <a:spcBef>
                <a:spcPts val="300"/>
              </a:spcBef>
              <a:spcAft>
                <a:spcPts val="150"/>
              </a:spcAft>
              <a:buNone/>
            </a:pPr>
            <a:r>
              <a:rPr lang="en-US" sz="10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HƯỚNG PHÁT TRIỂN</a:t>
            </a:r>
            <a:endParaRPr lang="en-US" sz="1000" dirty="0"/>
          </a:p>
          <a:p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</a:t>
            </a:r>
            <a:pPr indent="0" marL="0">
              <a:lnSpc>
                <a:spcPct val="95000"/>
              </a:lnSpc>
              <a:spcAft>
                <a:spcPts val="150"/>
              </a:spcAft>
              <a:buNone/>
            </a:pPr>
            <a:r>
              <a:rPr lang="en-US" sz="95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Q. Nguyen and A. T. Nguyen, “PhoBERT: Pre-trained language models for Vietnamese,” Findings of EMNLP, 2020, pp. 1037–1042.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0116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 trực tuyến truy cập 21/09/2026 · [1] giấy phép CC BY 4.0 theo README · Danh sách đầy đủ 18 tài liệu: báo cáo Word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22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tcdtist/dev/uit/cs114/assignments/Final/draft/scam-detection/reports/slides/assets/logo_uit_dhqg_tra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365760"/>
            <a:ext cx="4937760" cy="73253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CHÂN THÀNH CẢM ƠN THẦY VÀ CÁC BẠN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ĐÃ LẮNG NGHE BÁO CÁO!</a:t>
            </a:r>
            <a:endParaRPr lang="en-US" sz="2600" dirty="0"/>
          </a:p>
        </p:txBody>
      </p:sp>
      <p:sp>
        <p:nvSpPr>
          <p:cNvPr id="4" name="Shape 1"/>
          <p:cNvSpPr/>
          <p:nvPr/>
        </p:nvSpPr>
        <p:spPr>
          <a:xfrm>
            <a:off x="2286000" y="28803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2"/>
          <p:cNvSpPr/>
          <p:nvPr/>
        </p:nvSpPr>
        <p:spPr>
          <a:xfrm>
            <a:off x="457200" y="30175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Nhóm 10 — CS114.F31.CN2.TTNT  |  23/09/2026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457200" y="34290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Đặng Chí Thanh  ·  25730067@ms.uit.edu.vn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Bùi Thị Mỷ Cẩm  ·  25730013@ms.uit.edu.vn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Hoàng Cao Sơn  ·  25730061@ms.uit.edu.vn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UIT — Trường Đại học Công nghệ Thông tin, ĐHQG-HCM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60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spc="4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457200" y="1417320"/>
            <a:ext cx="8229600" cy="15087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Q&amp;A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286000" y="3108960"/>
            <a:ext cx="4572000" cy="36576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Siêu tham số  ·  Confusion Matrices  ·  Learning Curves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Siêu tham số &amp; Chiến lược tinh chỉnh</a:t>
            </a:r>
            <a:endParaRPr lang="en-US" sz="18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794760"/>
                <a:gridCol w="22860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Siêu tham số tốt nhất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Tinh chỉnh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n_estimators=300, max_depth=5, learning_rate=0.05, subsample=0.7, colsample_bytree=0.8, scale_pos_weight=4.22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C=10 (LinearSVC + CalibratedClassifierCV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0.9567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n_estimators=200, max_depth=50, min_samples_split=2, min_samples_leaf=2, max_features=0.2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RandomizedSearchCV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(n_iter=25, 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0.9479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alpha=0.01 (MultinomialNB) — chỉ 5.000 đặc trưng TF-IDF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GridSearchCV (5-fold)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0.9058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Nguồn: models/*_metrics.json · CV F1 = điểm F1 trung bình cross-validation trên tập train (1.754 mẫu).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1" name="Text 7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22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Confusion Matrices — Cả 4 Mô hình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confusion_matrices_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0602" y="1097280"/>
            <a:ext cx="4382316" cy="3566160"/>
          </a:xfrm>
          <a:prstGeom prst="rect">
            <a:avLst/>
          </a:prstGeom>
        </p:spPr>
      </p:pic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143000"/>
          <a:ext cx="365760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0972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Mô hình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FN (bỏ lọt)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 (báo sai)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54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Linear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Naive Bayes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5FC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0" y="3063240"/>
            <a:ext cx="3657600" cy="155448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5029200" y="3063240"/>
            <a:ext cx="54864" cy="155448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1" name="Text 7"/>
          <p:cNvSpPr/>
          <p:nvPr/>
        </p:nvSpPr>
        <p:spPr>
          <a:xfrm>
            <a:off x="5166360" y="3136392"/>
            <a:ext cx="34290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Cách đọc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5166360" y="3474720"/>
            <a:ext cx="3429000" cy="105156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 = tin lừa đảo bị bỏ lọt — nguy hiểm nhất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 = tin bình thường bị báo nhầm</a:t>
            </a:r>
            <a:endParaRPr lang="en-US" sz="1200" dirty="0"/>
          </a:p>
          <a:p>
            <a:pPr marL="177800" indent="-1778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Tập test: 84 lừa đảo + 355 bình thường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5" name="Text 10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22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73152"/>
            <a:ext cx="42062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TRƯỜNG ĐẠI HỌC CÔNG NGHỆ THÔNG TIN — ĐHQG-HCM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846320" y="73152"/>
            <a:ext cx="3840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FDB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Phụ lục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59436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Backup: Learning Curves — Train vs Validation</a:t>
            </a:r>
            <a:endParaRPr lang="en-US" sz="1800" dirty="0"/>
          </a:p>
        </p:txBody>
      </p:sp>
      <p:pic>
        <p:nvPicPr>
          <p:cNvPr id="7" name="Image 0" descr="/Users/tcdtist/dev/uit/cs114/assignments/Final/draft/scam-detection/reports/figures/learning_curves_sum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7972" y="1097280"/>
            <a:ext cx="5190537" cy="35661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852160" y="1143000"/>
            <a:ext cx="2834640" cy="3474720"/>
          </a:xfrm>
          <a:prstGeom prst="rect">
            <a:avLst/>
          </a:prstGeom>
          <a:solidFill>
            <a:srgbClr val="F1F5F9"/>
          </a:solidFill>
          <a:ln w="6350">
            <a:solidFill>
              <a:srgbClr val="1E5FC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852160" y="1143000"/>
            <a:ext cx="54864" cy="3474720"/>
          </a:xfrm>
          <a:prstGeom prst="rect">
            <a:avLst/>
          </a:prstGeom>
          <a:solidFill>
            <a:srgbClr val="1E5FC2"/>
          </a:solidFill>
          <a:ln/>
        </p:spPr>
      </p:sp>
      <p:sp>
        <p:nvSpPr>
          <p:cNvPr id="10" name="Text 7"/>
          <p:cNvSpPr/>
          <p:nvPr/>
        </p:nvSpPr>
        <p:spPr>
          <a:xfrm>
            <a:off x="5989320" y="1216152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định trung thực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989320" y="1554480"/>
            <a:ext cx="2606040" cy="2971800"/>
          </a:xfrm>
          <a:prstGeom prst="rect">
            <a:avLst/>
          </a:prstGeom>
          <a:noFill/>
          <a:ln/>
        </p:spPr>
        <p:txBody>
          <a:bodyPr wrap="square" lIns="25400" tIns="0" rIns="0" bIns="50800" rtlCol="0" anchor="t">
            <a:normAutofit/>
          </a:bodyPr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F1 ≈ 0.96–1.0, Validation F1 ≈ 0.91–0.96 → còn khoảng cách 3–6 điểm (overfit nhẹ)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F1 của XGBoost, SVM, RF vẫn tăng theo số mẫu → thêm dữ liệu sẽ giúp</a:t>
            </a:r>
            <a:endParaRPr lang="en-US" sz="12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F1 (~0.96) sát F1 test (0.95) → khái quát ổn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57200" y="4736592"/>
            <a:ext cx="7040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CS114: Máy học — Nhóm 10 — Báo cáo Đồ án: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Phát hiện Tin nhắn &amp; Kịch bản Thao túng Tâm lý Lừa đảo nhắm vào Người cao tuổi tại Việt Nam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7589520" y="473659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E40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22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UIT — ĐHQG-HCM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Nghiên cứu và Xây dựng Hệ thống Phát hiện Tin nhắn &amp; Kịch bản Thao túng Tâm lý Lừa đảo nhắm vào Người cao tuổi tại Việt Nam</dc:title>
  <dc:subject>CS114 — Phase 09 Defense Presentation</dc:subject>
  <dc:creator>Nhóm 10 — Đặng Chí Thanh, Bùi Thị Mỷ Cẩm, Hoàng Cao Sơn</dc:creator>
  <cp:lastModifiedBy>Nhóm 10 — Đặng Chí Thanh, Bùi Thị Mỷ Cẩm, Hoàng Cao Sơn</cp:lastModifiedBy>
  <cp:revision>1</cp:revision>
  <dcterms:created xsi:type="dcterms:W3CDTF">2026-09-21T14:58:37Z</dcterms:created>
  <dcterms:modified xsi:type="dcterms:W3CDTF">2026-09-21T14:58:37Z</dcterms:modified>
</cp:coreProperties>
</file>