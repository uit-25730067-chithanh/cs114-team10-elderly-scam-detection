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ỷ Cẩm" userId="2f7d1b655b90127a" providerId="LiveId" clId="{BE1B56B2-9ED1-4C5B-8C1B-0C71FE67AC87}"/>
    <pc:docChg chg="modSld">
      <pc:chgData name="Mỷ Cẩm" userId="2f7d1b655b90127a" providerId="LiveId" clId="{BE1B56B2-9ED1-4C5B-8C1B-0C71FE67AC87}" dt="2026-09-20T18:24:51.625" v="0" actId="1076"/>
      <pc:docMkLst>
        <pc:docMk/>
      </pc:docMkLst>
      <pc:sldChg chg="modSp mod">
        <pc:chgData name="Mỷ Cẩm" userId="2f7d1b655b90127a" providerId="LiveId" clId="{BE1B56B2-9ED1-4C5B-8C1B-0C71FE67AC87}" dt="2026-09-20T18:24:51.625" v="0" actId="1076"/>
        <pc:sldMkLst>
          <pc:docMk/>
          <pc:sldMk cId="0" sldId="268"/>
        </pc:sldMkLst>
        <pc:picChg chg="mod">
          <ac:chgData name="Mỷ Cẩm" userId="2f7d1b655b90127a" providerId="LiveId" clId="{BE1B56B2-9ED1-4C5B-8C1B-0C71FE67AC87}" dt="2026-09-20T18:24:51.625" v="0" actId="1076"/>
          <ac:picMkLst>
            <pc:docMk/>
            <pc:sldMk cId="0" sldId="268"/>
            <ac:picMk id="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1781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COVER
- Người trình bày đầu tiên: Đặng Chí Thanh (PM)
- Giới thiệu tên đề tài và các thành viên
- Nhấn mạnh: đề tài bảo vệ người cao tuổi khỏi lừa đảo tin nhắn tiếng Việt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BỐI CẢNH
- Mở bằng câu hỏi gây suy nghĩ
- Nêu quy mô dataset: 2.193 mẫu thực tế, zero AI-generated
- 4 nhóm bẫy tâm lý — đây là đóng góp học thuật chính của nhóm
- Bài toán ưu tiên Recall vì bỏ lọt tin lừa đảo nguy hiểm hơn báo nhầm
- Chuyển sang: Mục tiêu nghiên cứu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MỤC TIÊU
- Đọc nhanh 4 mục tiêu
- Nhấn: cả 4 mô hình đều vượt chỉ tiêu đề ra
- Chuyển sang: Phần Dữ liệu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DATASET
- Nhấn mạnh Zero Synthetic Text (100% đời thực)
- 7 tầng kiểm toán nghiêm ngặt
- 3 thành viên thu thập độc lập
- Mất cân bằng lớp 4.2:1 nên dùng Recall/F1, không dùng Accuracy
- Chuyển sang: phân loại 4 nhóm bẫy tâm lý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NHÓM BẪY TÂM LÝ
- 4 pattern lừa đảo NCT được phát hiện trong data
- Giả dịch vụ công (159) và Đe dọa quyền lực (127) chiếm 68% (286/420)
- Nhóm Quà tặng (46) ít nhưng rất tinh vi
- Chuyển sang: pipeline kỹ thuật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PIPELINE
- Giải thích ngắn gọn 5 bước
- Nhấn mạnh Zero-Leakage: chia tập TRƯỚC, fit vectorizer chỉ trên train
- Feature vector cuối: 5.015 chiều (5.000 TF-IDF + 15 đặc trưng phụ)
- Naive Bayes chỉ dùng TF-IDF vì đặc trưng phụ có giá trị âm không hợp với MultinomialNB
- Chuyển sang: phần Mô hình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— MODEL TABLE
- XGBoost best overall: F1=95.35%, Recall=97.62%
- SVM có ROC-AUC cao nhất (99.86%) nhưng F1 thấp hơn XGBoost
- Naive Bayes vẫn đạt F1=88.64% — baseline tốt, chỉ dùng TF-IDF
- Nhấn: tất cả đều vượt chỉ tiêu GV yêu cầu
- Q&amp;A: ROC-AUC Random Forest = 99.76% theo log huấn luyện Phase 05 (0.99755); ảnh ROC và model_comparison.csv (tính lại ở Phase 07) ghi 0.9977 — chênh do làm tròn/tính lại
- Q&amp;A: FN của từng mô hình — XGB 2, RF 2, SVM 3, NB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— ROC &amp; PR
- ROC-AUC ≥ 99% cho tất cả: mô hình tách lớp tốt
- Vì dữ liệu mất cân bằng (4.2:1) nên PR curve phản ánh sát hơn ROC
- Chuyển sang: SHAP giải thích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— SHAP XAI
- Điểm học thuật quan trọng: giải thích được vì sao mô hình kết luận lừa đảo
- Top-20 từ khóa đồng thuận lấy từ xếp hạng của cả 4 mô hình (reports/figures/top20_keywords_barplot.png)
- 'money' và 'number' là token chuẩn hóa từ bước tiền xử lý
- Cách đọc SHAP beeswarm: trục ngang là mức đẩy về lớp Lừa đảo; màu là giá trị đặc trưng
- Chuyển sang: Demo ứng dụng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— DEMO
- Nếu cho phép: live demo trực tiếp streamlit app (streamlit run demo/app.py)
- Nếu không: dùng screenshot này
- Nhấn: trợ năng cho người cao tuổi (chỉnh cỡ chữ, hotline 1 chạm)
- Chuyển sang: Kết luận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 — KẾT LUẬN
- Nhóm đã hoàn thành đầy đủ các mục tiêu đề ra
- XGBoost là best model
- Điểm mạnh: dataset thực tế + XAI giải thích + demo trợ năng
- Hạn chế trung thực: tập test chỉ có 84 mẫu lừa đảo nên mỗi FN thay đổi Recall ~1.2 điểm
- Mở ra: tích hợp PhoBERT và mở rộng sang voice scam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 — THAM KHẢO
- [1] XGBoost, [2] hiệu chỉnh xác suất SVM (CalibratedClassifierCV), [3] PhoBERT (hướng phát triển), [4] nguồn dữ liệu bình thường, [5] scikit-learn
- Q&amp;A: [4] đang chờ DOI — trình bày rõ là nguồn dữ liệu công khai nhóm đã ghi provenance trong 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 — THANK YOU
- Mời Thầy và hội đồng đặt câu hỏi
- Backup slides có: siêu tham số, confusion matrices, learning curves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B1 — SIÊU THAM SỐ
- XGBoost và Random Forest: RandomizedSearchCV n_iter=25, 5-fold; SVM và Naive Bayes: GridSearchCV 5-fold
- Naive Bayes chọn alpha=0.01 và chỉ dùng TF-IDF vì đặc trưng phụ có giá trị âm
- CV F1 (train) gần với F1 test → mô hình khái quát tốt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B2 — CONFUSION MATRIX
- FN/FP tính từ Recall/Precision trong log trên tập test 439 mẫu (84 lừa đảo)
- XGBoost và Random Forest cùng FN nhỏ nhất; Random Forest báo nhầm nhiều hơn (FP cao hơn)
- Naive Bayes FN và FP cao nhất — vai trò baseline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B3 — LEARNING CURVES
- Không nói 'không overfit': Train F1 gần 1.0 nhưng Validation F1 thấp hơn ~3-6 điểm
- Điểm tích cực: Validation F1 vẫn đang tăng theo số mẫu (thêm dữ liệu sẽ cải thiện) và F1 test sát CV F1 nên không có dấu hiệu khái quát kém
- Naive Bayes: Train F1 giảm, Validation tăng dần — hội tụ ~0.91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102E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🛡️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8229600" cy="11704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HIỆN TIN NHẮN LỪA ĐẢO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NHẮM VÀO NGƯỜI CAO TUỔI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Elderly Scam Detection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3108960"/>
            <a:ext cx="4572000" cy="36576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CS114 — Máy học  |  Nhóm 10  |  ThS. Cáp Phạm Đình Thăng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Đặng Chí Thanh (25730067)  ·  Bùi Thị Mỷ Cẩm (25730013)  ·  Hoàng Cao Sơn (25730061)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23/09/2026  |  UIT — ĐHQG-HCM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2004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— CS114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58184" y="73152"/>
            <a:ext cx="4928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Bối cảnh &amp; Vấn đề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560320" cy="1874520"/>
          </a:xfrm>
          <a:prstGeom prst="rect">
            <a:avLst/>
          </a:prstGeom>
          <a:solidFill>
            <a:srgbClr val="F1F5F9"/>
          </a:solidFill>
          <a:ln w="6350">
            <a:solidFill>
              <a:srgbClr val="1E5F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2560320" cy="54864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801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5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2.193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94360" y="19842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 tin nhắn thực tế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1.773 bình thường · 420 lừa đảo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có URL nguồn truy vết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143000"/>
            <a:ext cx="2560320" cy="1874520"/>
          </a:xfrm>
          <a:prstGeom prst="rect">
            <a:avLst/>
          </a:prstGeom>
          <a:solidFill>
            <a:srgbClr val="F1F5F9"/>
          </a:solidFill>
          <a:ln w="6350">
            <a:solidFill>
              <a:srgbClr val="1E5F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143000"/>
            <a:ext cx="2560320" cy="54864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2801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5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429000" y="19842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bẫy tâm lý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29000" y="2331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Quyền lực · Gia đình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Quà tặng · Dịch vụ công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143000"/>
            <a:ext cx="2560320" cy="1874520"/>
          </a:xfrm>
          <a:prstGeom prst="rect">
            <a:avLst/>
          </a:prstGeom>
          <a:solidFill>
            <a:srgbClr val="F1F5F9"/>
          </a:solidFill>
          <a:ln w="6350">
            <a:solidFill>
              <a:srgbClr val="1E5F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143000"/>
            <a:ext cx="2560320" cy="54864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2801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5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263640" y="19842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bản do AI tự sinh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331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tin nhắn đời thực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toán 7 tầng · 0% PII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8229600" cy="1325880"/>
          </a:xfrm>
          <a:prstGeom prst="rect">
            <a:avLst/>
          </a:prstGeom>
          <a:solidFill>
            <a:srgbClr val="EFF6FF"/>
          </a:solidFill>
          <a:ln w="6350">
            <a:solidFill>
              <a:srgbClr val="1E5F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91840"/>
            <a:ext cx="54864" cy="1325880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36499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“Tại sao người cao tuổi dễ bị lừa đảo qua tin nhắn hơn?”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" y="400507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toán: phát hiện sớm tin nhắn thao túng tâm lý — ưu tiên không bỏ lọt (Recall), vì bỏ sót nguy hiểm hơn báo nhầm.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2004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— CS114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58184" y="73152"/>
            <a:ext cx="4928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&amp; Đóng góp của Nhóm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023360" cy="1645920"/>
          </a:xfrm>
          <a:prstGeom prst="rect">
            <a:avLst/>
          </a:prstGeom>
          <a:solidFill>
            <a:srgbClr val="F1F5F9"/>
          </a:solidFill>
          <a:ln w="6350">
            <a:solidFill>
              <a:srgbClr val="1E5F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54864" cy="1645920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1615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4 mô hình ML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554480"/>
            <a:ext cx="3794760" cy="1143000"/>
          </a:xfrm>
          <a:prstGeom prst="rect">
            <a:avLst/>
          </a:prstGeom>
          <a:noFill/>
          <a:ln/>
        </p:spPr>
        <p:txBody>
          <a:bodyPr wrap="square" lIns="25400" tIns="0" rIns="0" bIns="50800" rtlCol="0" anchor="t">
            <a:norm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· Random Forest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SVM Linear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tập test 439 mẫu (stratified 80/20)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023360" cy="1645920"/>
          </a:xfrm>
          <a:prstGeom prst="rect">
            <a:avLst/>
          </a:prstGeom>
          <a:solidFill>
            <a:srgbClr val="F1F5F9"/>
          </a:solidFill>
          <a:ln w="6350">
            <a:solidFill>
              <a:srgbClr val="1E5F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43000"/>
            <a:ext cx="54864" cy="1645920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21615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Vượt chỉ tiêu kỹ thuật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1554480"/>
            <a:ext cx="3794760" cy="1143000"/>
          </a:xfrm>
          <a:prstGeom prst="rect">
            <a:avLst/>
          </a:prstGeom>
          <a:noFill/>
          <a:ln/>
        </p:spPr>
        <p:txBody>
          <a:bodyPr wrap="square" lIns="25400" tIns="0" rIns="0" bIns="50800" rtlCol="0" anchor="t">
            <a:norm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≥ 88% · Recall ≥ 92%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4 mô hình đều đạt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Recall: bỏ lọt nguy hiểm hơn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023360" cy="1645920"/>
          </a:xfrm>
          <a:prstGeom prst="rect">
            <a:avLst/>
          </a:prstGeom>
          <a:solidFill>
            <a:srgbClr val="F1F5F9"/>
          </a:solidFill>
          <a:ln w="6350">
            <a:solidFill>
              <a:srgbClr val="1E5F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54864" cy="1645920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99923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thích AI (XAI)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3337560"/>
            <a:ext cx="3794760" cy="1143000"/>
          </a:xfrm>
          <a:prstGeom prst="rect">
            <a:avLst/>
          </a:prstGeom>
          <a:noFill/>
          <a:ln/>
        </p:spPr>
        <p:txBody>
          <a:bodyPr wrap="square" lIns="25400" tIns="0" rIns="0" bIns="50800" rtlCol="0" anchor="t">
            <a:norm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Beeswarm trên XGBoost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 từ khóa cảnh báo đồng thuận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lời: vì sao tin này bị coi là lừa đảo?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023360" cy="1645920"/>
          </a:xfrm>
          <a:prstGeom prst="rect">
            <a:avLst/>
          </a:prstGeom>
          <a:solidFill>
            <a:srgbClr val="F1F5F9"/>
          </a:solidFill>
          <a:ln w="6350">
            <a:solidFill>
              <a:srgbClr val="1E5F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926080"/>
            <a:ext cx="54864" cy="1645920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99923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Streamlit cho người cao tuổi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0600" y="3337560"/>
            <a:ext cx="3794760" cy="1143000"/>
          </a:xfrm>
          <a:prstGeom prst="rect">
            <a:avLst/>
          </a:prstGeom>
          <a:noFill/>
          <a:ln/>
        </p:spPr>
        <p:txBody>
          <a:bodyPr wrap="square" lIns="25400" tIns="0" rIns="0" bIns="50800" rtlCol="0" anchor="t">
            <a:norm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100–150%, hotline 156/113 một chạm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Dán tin nhắn → tự động phân tích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16/16 kiểm thử E2E Playwright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0"/>
            <a:ext cx="8229600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 liệu &amp;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Phương pháp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3108960"/>
            <a:ext cx="4572000" cy="36576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 ·  Tiền xử lý  ·  Feature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2004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— CS114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58184" y="73152"/>
            <a:ext cx="4928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&amp; Phương pháp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2.193 Mẫu Thực Tế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4343400" cy="2606040"/>
          </a:xfrm>
          <a:prstGeom prst="rect">
            <a:avLst/>
          </a:prstGeom>
          <a:noFill/>
          <a:ln/>
        </p:spPr>
        <p:txBody>
          <a:bodyPr wrap="square" lIns="25400" tIns="0" rIns="0" bIns="50800" rtlCol="0" anchor="t">
            <a:normAutofit/>
          </a:bodyPr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2.193 mẫu · Stratified Split 80/20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Bình thường (label 0): 1.773 mẫu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Lừa đảo (label 1): 420 mẫu — tỉ lệ 4.2:1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toán 7 tầng: 0% PII, 0% văn bản tổng hợp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độc lập: Thanh 1.773 · Sơn 215 · Cẩm 205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1.754 · Test 439 (355 bình thường + 84 lừa đảo)</a:t>
            </a:r>
            <a:endParaRPr lang="en-US" sz="1500" dirty="0"/>
          </a:p>
        </p:txBody>
      </p:sp>
      <p:pic>
        <p:nvPicPr>
          <p:cNvPr id="8" name="Image 0" descr="C:\Users\ADMIN\OneDrive\Documents\MÁY HỌC\ĐỒ ÁN MÔN MÁY HỌC\CS114-Team10-Elderly-Scam-Detection\draft\scam-detection\reports\figures\label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53242"/>
            <a:ext cx="3749040" cy="22941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937760" y="362051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bố nhãn (train + test)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393192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931920"/>
            <a:ext cx="7955280" cy="68580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cân bằng 4.2:1 → đánh giá bằng Recall / F1 thay vì Accuracy; XGBoost bù bằng scale_pos_weight = 4.22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2004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— CS114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58184" y="73152"/>
            <a:ext cx="4928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&amp; Phương pháp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Nhóm Bẫy Tâm lý trong Dataset</a:t>
            </a:r>
            <a:endParaRPr lang="en-US" sz="1800" dirty="0"/>
          </a:p>
        </p:txBody>
      </p:sp>
      <p:pic>
        <p:nvPicPr>
          <p:cNvPr id="7" name="Image 0" descr="C:\Users\ADMIN\OneDrive\Documents\MÁY HỌC\ĐỒ ÁN MÔN MÁY HỌC\CS114-Team10-Elderly-Scam-Detection\draft\scam-detection\reports\figures\scam_category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06918"/>
            <a:ext cx="4023360" cy="195816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33823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mẫu lừa đảo theo nhóm bẫy tâm lý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43000"/>
          <a:ext cx="4023360" cy="22860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 bẫy tâm lý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Mẫu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Kịch bản tiêu biểu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Đe dọa quyền lực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 cảnh sát / tòa án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Khẩn cấp gia đình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cháu tai nạn, cần tiền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Dụ dỗ quà tặng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Trúng thưởng, ưu đãi sức khỏe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 dịch vụ công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BHXH, điện lực giả mạo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solidFill>
            <a:srgbClr val="EFF6FF"/>
          </a:solidFill>
          <a:ln w="6350">
            <a:solidFill>
              <a:srgbClr val="1E5FC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7200" y="3657600"/>
            <a:ext cx="54864" cy="960120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3657600"/>
            <a:ext cx="7955280" cy="96012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420 mẫu lừa đảo. Giả dịch vụ công (159) và Đe dọa quyền lực (127) chiếm 68%; nhóm Quà tặng (46) ít nhất nhưng tinh vi nhất — mỗi nhóm khai thác một điểm yếu tâm lý khác nhau.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2004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— CS114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58184" y="73152"/>
            <a:ext cx="4928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&amp; Phương pháp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Tiền xử lý &amp; Feature Engineering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517904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1E5F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54864" cy="1417320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16152"/>
            <a:ext cx="1289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Unicode NFC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554480"/>
            <a:ext cx="1289304" cy="914400"/>
          </a:xfrm>
          <a:prstGeom prst="rect">
            <a:avLst/>
          </a:prstGeom>
          <a:noFill/>
          <a:ln/>
        </p:spPr>
        <p:txBody>
          <a:bodyPr wrap="square" lIns="25400" tIns="0" rIns="0" bIns="50800" rtlCol="0" anchor="t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ký tự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 Việt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84248" y="1737360"/>
            <a:ext cx="141732" cy="228600"/>
          </a:xfrm>
          <a:prstGeom prst="rightArrow">
            <a:avLst/>
          </a:prstGeom>
          <a:solidFill>
            <a:srgbClr val="1E5FC2"/>
          </a:solidFill>
          <a:ln/>
        </p:spPr>
      </p:sp>
      <p:sp>
        <p:nvSpPr>
          <p:cNvPr id="12" name="Shape 10"/>
          <p:cNvSpPr/>
          <p:nvPr/>
        </p:nvSpPr>
        <p:spPr>
          <a:xfrm>
            <a:off x="2135124" y="1143000"/>
            <a:ext cx="1517904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1E5F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35124" y="1143000"/>
            <a:ext cx="54864" cy="1417320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14" name="Text 12"/>
          <p:cNvSpPr/>
          <p:nvPr/>
        </p:nvSpPr>
        <p:spPr>
          <a:xfrm>
            <a:off x="2272284" y="1216152"/>
            <a:ext cx="1289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Teencode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72284" y="1554480"/>
            <a:ext cx="1289304" cy="914400"/>
          </a:xfrm>
          <a:prstGeom prst="rect">
            <a:avLst/>
          </a:prstGeom>
          <a:noFill/>
          <a:ln/>
        </p:spPr>
        <p:txBody>
          <a:bodyPr wrap="square" lIns="25400" tIns="0" rIns="0" bIns="50800" rtlCol="0" anchor="t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từ viết tắt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+ 22 mẫu leet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62172" y="1737360"/>
            <a:ext cx="141732" cy="228600"/>
          </a:xfrm>
          <a:prstGeom prst="rightArrow">
            <a:avLst/>
          </a:prstGeom>
          <a:solidFill>
            <a:srgbClr val="1E5FC2"/>
          </a:solidFill>
          <a:ln/>
        </p:spPr>
      </p:sp>
      <p:sp>
        <p:nvSpPr>
          <p:cNvPr id="17" name="Shape 15"/>
          <p:cNvSpPr/>
          <p:nvPr/>
        </p:nvSpPr>
        <p:spPr>
          <a:xfrm>
            <a:off x="3813048" y="1143000"/>
            <a:ext cx="1517904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1E5F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13048" y="1143000"/>
            <a:ext cx="54864" cy="1417320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19" name="Text 17"/>
          <p:cNvSpPr/>
          <p:nvPr/>
        </p:nvSpPr>
        <p:spPr>
          <a:xfrm>
            <a:off x="3950208" y="1216152"/>
            <a:ext cx="1289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Tách từ (PyVi)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50208" y="1554480"/>
            <a:ext cx="1289304" cy="914400"/>
          </a:xfrm>
          <a:prstGeom prst="rect">
            <a:avLst/>
          </a:prstGeom>
          <a:noFill/>
          <a:ln/>
        </p:spPr>
        <p:txBody>
          <a:bodyPr wrap="square" lIns="25400" tIns="0" rIns="0" bIns="50800" rtlCol="0" anchor="t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Ghép âm tiết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từ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40096" y="1737360"/>
            <a:ext cx="141732" cy="228600"/>
          </a:xfrm>
          <a:prstGeom prst="rightArrow">
            <a:avLst/>
          </a:prstGeom>
          <a:solidFill>
            <a:srgbClr val="1E5FC2"/>
          </a:solidFill>
          <a:ln/>
        </p:spPr>
      </p:sp>
      <p:sp>
        <p:nvSpPr>
          <p:cNvPr id="22" name="Shape 20"/>
          <p:cNvSpPr/>
          <p:nvPr/>
        </p:nvSpPr>
        <p:spPr>
          <a:xfrm>
            <a:off x="5490972" y="1143000"/>
            <a:ext cx="1517904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1E5F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90972" y="1143000"/>
            <a:ext cx="54864" cy="1417320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24" name="Text 22"/>
          <p:cNvSpPr/>
          <p:nvPr/>
        </p:nvSpPr>
        <p:spPr>
          <a:xfrm>
            <a:off x="5628132" y="1216152"/>
            <a:ext cx="1289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TF-IDF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28132" y="1554480"/>
            <a:ext cx="1289304" cy="914400"/>
          </a:xfrm>
          <a:prstGeom prst="rect">
            <a:avLst/>
          </a:prstGeom>
          <a:noFill/>
          <a:ln/>
        </p:spPr>
        <p:txBody>
          <a:bodyPr wrap="square" lIns="25400" tIns="0" rIns="0" bIns="50800" rtlCol="0" anchor="t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đặc trưng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(1, 2)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18020" y="1737360"/>
            <a:ext cx="141732" cy="228600"/>
          </a:xfrm>
          <a:prstGeom prst="rightArrow">
            <a:avLst/>
          </a:prstGeom>
          <a:solidFill>
            <a:srgbClr val="1E5FC2"/>
          </a:solidFill>
          <a:ln/>
        </p:spPr>
      </p:sp>
      <p:sp>
        <p:nvSpPr>
          <p:cNvPr id="27" name="Shape 25"/>
          <p:cNvSpPr/>
          <p:nvPr/>
        </p:nvSpPr>
        <p:spPr>
          <a:xfrm>
            <a:off x="7168896" y="1143000"/>
            <a:ext cx="1517904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1E5F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68896" y="1143000"/>
            <a:ext cx="54864" cy="1417320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29" name="Text 27"/>
          <p:cNvSpPr/>
          <p:nvPr/>
        </p:nvSpPr>
        <p:spPr>
          <a:xfrm>
            <a:off x="7306056" y="1216152"/>
            <a:ext cx="1289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Đặc trưng phụ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06056" y="1554480"/>
            <a:ext cx="1289304" cy="914400"/>
          </a:xfrm>
          <a:prstGeom prst="rect">
            <a:avLst/>
          </a:prstGeom>
          <a:noFill/>
          <a:ln/>
        </p:spPr>
        <p:txBody>
          <a:bodyPr wrap="square" lIns="25400" tIns="0" rIns="0" bIns="50800" rtlCol="0" anchor="t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đặc trưng: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URL, SĐT, tiền, OTP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26974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Vector đầu vào mô hình: 5.015 chiều (5.000 TF-IDF + 15 đặc trưng phụ) · Naive Bayes chỉ dùng 5.000 TF-IDF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3337560"/>
            <a:ext cx="8229600" cy="128016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33756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3410712"/>
            <a:ext cx="8001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Zero-Leakage Protocol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94360" y="3749040"/>
            <a:ext cx="8001000" cy="777240"/>
          </a:xfrm>
          <a:prstGeom prst="rect">
            <a:avLst/>
          </a:prstGeom>
          <a:noFill/>
          <a:ln/>
        </p:spPr>
        <p:txBody>
          <a:bodyPr wrap="square" lIns="25400" tIns="0" rIns="0" bIns="50800" rtlCol="0" anchor="t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Chia Train/Test (stratified 80/20) TRƯỚC mọi bước học từ dữ liệu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fit() TF-IDF &amp; scaler chỉ trên X_train → transform() cho Train và Test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Vectorizer &amp; scaler không bao giờ “nhìn thấy” tập Test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0"/>
            <a:ext cx="8229600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&amp;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3108960"/>
            <a:ext cx="4572000" cy="36576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 ·  Random Forest  ·  XGBoost  ·  SVM Linear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2004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— CS114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58184" y="73152"/>
            <a:ext cx="4928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&amp; Kết quả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sánh 4 Mô hình Machine Learning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12848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hình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(tốt nhất tổng thể)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93.18%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97.62%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95.35%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93.10%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94.74%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97.72%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91.11%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97.62%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337560"/>
            <a:ext cx="8229600" cy="96012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337560"/>
            <a:ext cx="54864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7"/>
          <p:cNvSpPr/>
          <p:nvPr/>
        </p:nvSpPr>
        <p:spPr>
          <a:xfrm>
            <a:off x="594360" y="3410712"/>
            <a:ext cx="8001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luận: XGBoost — mô hình tốt nhất tổng thể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94360" y="3749040"/>
            <a:ext cx="8001000" cy="457200"/>
          </a:xfrm>
          <a:prstGeom prst="rect">
            <a:avLst/>
          </a:prstGeom>
          <a:noFill/>
          <a:ln/>
        </p:spPr>
        <p:txBody>
          <a:bodyPr wrap="square" lIns="25400" tIns="0" rIns="0" bIns="50800" rtlCol="0" anchor="t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= 2: chỉ bỏ lọt 2/84 tin lừa đảo trong tập test (Recall 97.62%) · FP = 6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4 mô hình đều vượt chỉ tiêu F1 ≥ 88% và Recall ≥ 92% · Số in đậm xanh = tốt nhất theo cột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370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models/*_metrics.json · tập test 439 mẫu (355 bình thường, 84 lừa đảo) · XGBoost [1], SVM hiệu chỉnh xác suất [2], scikit-learn [5]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2004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— CS114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58184" y="73152"/>
            <a:ext cx="4928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&amp; Kết quả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Curves &amp; Precision-Recall Curves</a:t>
            </a:r>
            <a:endParaRPr lang="en-US" sz="1800" dirty="0"/>
          </a:p>
        </p:txBody>
      </p:sp>
      <p:pic>
        <p:nvPicPr>
          <p:cNvPr id="7" name="Image 0" descr="C:\Users\ADMIN\OneDrive\Documents\MÁY HỌC\ĐỒ ÁN MÔN MÁY HỌC\CS114-Team10-Elderly-Scam-Detection\draft\scam-detection\reports\figures\roc_curve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17" y="1097280"/>
            <a:ext cx="3381087" cy="274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9136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ROC Curves — tất cả AUC ≥ 99%</a:t>
            </a:r>
            <a:endParaRPr lang="en-US" sz="1000" dirty="0"/>
          </a:p>
        </p:txBody>
      </p:sp>
      <p:pic>
        <p:nvPicPr>
          <p:cNvPr id="9" name="Image 1" descr="C:\Users\ADMIN\OneDrive\Documents\MÁY HỌC\ĐỒ ÁN MÔN MÁY HỌC\CS114-Team10-Elderly-Scam-Detection\draft\scam-detection\reports\figures\precision_recall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151" y="1097280"/>
            <a:ext cx="3385378" cy="274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0" y="39136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Precision-Recall Curves — 4 mô hình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EFF6FF"/>
          </a:solidFill>
          <a:ln w="6350">
            <a:solidFill>
              <a:srgbClr val="1E5FC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" y="4251960"/>
            <a:ext cx="54864" cy="411480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4251960"/>
            <a:ext cx="7955280" cy="41148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của 4 mô hình: 99.11% – 99.86% → cả 4 tách lớp rất tốt; khác biệt nằm ở FN/FP và Precision.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2004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— CS114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58184" y="73152"/>
            <a:ext cx="4928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&amp; Kết quả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thích Mô hình — SHAP Analysis (XAI)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4114800" cy="3154680"/>
          </a:xfrm>
          <a:prstGeom prst="rect">
            <a:avLst/>
          </a:prstGeom>
          <a:noFill/>
          <a:ln/>
        </p:spPr>
        <p:txBody>
          <a:bodyPr wrap="square" lIns="25400" tIns="0" rIns="0" bIns="5080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TreeExplainer trên XGBoost — không phải “hộp đen”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khóa cảnh báo đồng thuận (Top-20 của 4 mô hình):</a:t>
            </a:r>
            <a:endParaRPr lang="en-US" sz="1400" dirty="0"/>
          </a:p>
          <a:p>
            <a:pPr marL="355600" lvl="1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mày, số_định_danh → đe dọa quyền lực</a:t>
            </a:r>
            <a:endParaRPr lang="en-US" sz="1400" dirty="0"/>
          </a:p>
          <a:p>
            <a:pPr marL="355600" lvl="1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gấp, viện_phí → thúc ép khẩn cấp</a:t>
            </a:r>
            <a:endParaRPr lang="en-US" sz="1400" dirty="0"/>
          </a:p>
          <a:p>
            <a:pPr marL="355600" lvl="1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money, liên_hệ 198, thuế → giả mạo tổ chức, đòi tiền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đọc biểu đồ: SHAP &gt; 0 đẩy dự đoán về Lừa đảo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Màu điểm = giá trị đặc trưng (đỏ cao, xanh thấp)</a:t>
            </a:r>
            <a:endParaRPr lang="en-US" sz="1400" dirty="0"/>
          </a:p>
        </p:txBody>
      </p:sp>
      <p:pic>
        <p:nvPicPr>
          <p:cNvPr id="8" name="Image 0" descr="C:\Users\ADMIN\OneDrive\Documents\MÁY HỌC\ĐỒ ÁN MÔN MÁY HỌC\CS114-Team10-Elderly-Scam-Detection\draft\scam-detection\reports\figures\shap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180" y="1097280"/>
            <a:ext cx="2999320" cy="3566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3891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“money” là token chuẩn hóa cho số tiền trong tin nhắn (bước tiền xử lý).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0"/>
            <a:ext cx="8229600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Ứng dụng &amp;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3108960"/>
            <a:ext cx="4572000" cy="36576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  ·  Kết quả  ·  Hướng phát triển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2004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— CS114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58184" y="73152"/>
            <a:ext cx="4928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Kết luận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Streamlit Web Application</a:t>
            </a:r>
            <a:endParaRPr lang="en-US" sz="1800" dirty="0"/>
          </a:p>
        </p:txBody>
      </p:sp>
      <p:pic>
        <p:nvPicPr>
          <p:cNvPr id="7" name="Image 0" descr="C:\Users\ADMIN\OneDrive\Documents\MÁY HỌC\ĐỒ ÁN MÔN MÁY HỌC\CS114-Team10-Elderly-Scam-Detection\draft\scam-detection\reports\figures\demo_03_scam_detection_verd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1087257"/>
            <a:ext cx="4800600" cy="3200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416552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phân tích một tin nhắn lừa đảo trên giao diện demo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0" y="1143000"/>
            <a:ext cx="3017520" cy="3474720"/>
          </a:xfrm>
          <a:prstGeom prst="rect">
            <a:avLst/>
          </a:prstGeom>
          <a:noFill/>
          <a:ln/>
        </p:spPr>
        <p:txBody>
          <a:bodyPr wrap="square" lIns="25400" tIns="0" rIns="0" bIns="50800" rtlCol="0" anchor="t">
            <a:norm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mô hình trong 1 ứng dụng (mặc định XGBoost)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Chỉnh cỡ chữ 100% · 125% · 150%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Hotline khẩn cấp 156 / 113 gọi 1 chạm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Dán tin nhắn → tự động phân tích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xuất 15 đặc trưng tâm lý theo thời gian thực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điện thoại · 16/16 kiểm thử E2E Playwright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2004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— CS114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58184" y="73152"/>
            <a:ext cx="4928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Kết luận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 &amp; Hướng Phát triển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023360" cy="3474720"/>
          </a:xfrm>
          <a:prstGeom prst="rect">
            <a:avLst/>
          </a:prstGeom>
          <a:solidFill>
            <a:srgbClr val="EFF6FF"/>
          </a:solidFill>
          <a:ln w="6350">
            <a:solidFill>
              <a:srgbClr val="1E5F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54864" cy="3474720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1615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đạt được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1554480"/>
            <a:ext cx="3794760" cy="2971800"/>
          </a:xfrm>
          <a:prstGeom prst="rect">
            <a:avLst/>
          </a:prstGeom>
          <a:noFill/>
          <a:ln/>
        </p:spPr>
        <p:txBody>
          <a:bodyPr wrap="square" lIns="25400" tIns="0" rIns="0" bIns="50800" rtlCol="0" anchor="t">
            <a:normAutofit/>
          </a:bodyPr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95.35% (mục tiêu ≥ 88%)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97.62% (mục tiêu ≥ 92%)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mô hình được so sánh (tối thiểu 3)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2.193 mẫu thực tế — Zero Synthetic Text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XAI — giải thích được quyết định của mô hình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Streamlit hoạt động đầy đủ, thân thiện người cao tuổi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023360" cy="3474720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43000"/>
            <a:ext cx="54864" cy="3474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21615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1554480"/>
            <a:ext cx="3794760" cy="2971800"/>
          </a:xfrm>
          <a:prstGeom prst="rect">
            <a:avLst/>
          </a:prstGeom>
          <a:noFill/>
          <a:ln/>
        </p:spPr>
        <p:txBody>
          <a:bodyPr wrap="square" lIns="25400" tIns="0" rIns="0" bIns="50800" rtlCol="0" anchor="t">
            <a:normAutofit/>
          </a:bodyPr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PhoBERT (BERT tiếng Việt) [3]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sang lừa đảo qua giọng nói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cho ứng dụng ngân hàng / nhà mạng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dataset lên 10.000+ mẫu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giám sát thời gian thực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2004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— CS114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58184" y="73152"/>
            <a:ext cx="4928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 khảo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 liệu tham khảo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6080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T. Chen &amp; C. Guestrin, “XGBoost: A Scalable Tree Boosting System,” KDD 2016.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42516"/>
            <a:ext cx="8229600" cy="6080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J. Platt, “Probabilistic Outputs for Support Vector Machines and Comparisons to Regularized Likelihood Methods,” Advances in Large Margin Classifiers, 1999.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8229600" cy="6080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D. Q. Nguyen &amp; A. T. Nguyen, “PhoBERT: Pre-trained Language Models for Vietnamese,” Findings of EMNLP 2020.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41548"/>
            <a:ext cx="8229600" cy="6080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Vietnamese Quality-Assured SMS Dataset, IEEE Access 2026 (doi pending) — nguồn dữ liệu tin nhắn bình thường.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41064"/>
            <a:ext cx="8229600" cy="6080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F. Pedregosa et al., “Scikit-learn: Machine Learning in Python,” JMLR vol. 12, 2011.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Thầy và các bạn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đã lắng nghe!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0" y="2697480"/>
            <a:ext cx="4572000" cy="36576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10 — CS114.F31.CN2.TTNT  |  23/09/2026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Đặng Chí Thanh  ·  25730067@ms.uit.edu.vn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Bùi Thị Mỷ Cẩm  ·  25730013@ms.uit.edu.vn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Hoàng Cao Sơn  ·  25730061@ms.uit.edu.vn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— Trường Đại học Công nghệ Thông tin, ĐHQG-HCM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0"/>
            <a:ext cx="8229600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Phụ lục —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Q&amp;A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3108960"/>
            <a:ext cx="4572000" cy="36576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Siêu tham số  ·  Confusion Matrices  ·  Learning Curves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2004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— CS114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58184" y="73152"/>
            <a:ext cx="4928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lục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Backup: Siêu tham số &amp; Chiến lược tinh chỉnh</a:t>
            </a:r>
            <a:endParaRPr lang="en-US" sz="1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hình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Siêu tham số tốt nhất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Tinh chỉnh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n_estimators=300, max_depth=5, learning_rate=0.05, subsample=0.7, colsample_bytree=0.8, scale_pos_weight=4.22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RandomizedSearchCV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(n_iter=25, 5-fold)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Linear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C=10 (LinearSVC + CalibratedClassifierCV 5-fold)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GridSearchCV (5-fold)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n_estimators=200, max_depth=50, min_samples_split=2, min_samples_leaf=2, max_features=0.2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RandomizedSearchCV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(n_iter=25, 5-fold)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alpha=0.01 (MultinomialNB) — chỉ 5.000 đặc trưng TF-IDF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GridSearchCV (5-fold)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models/*_metrics.json · CV F1 = điểm F1 trung bình cross-validation trên tập train (1.754 mẫu).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2004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— CS114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58184" y="73152"/>
            <a:ext cx="4928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lục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Backup: Confusion Matrices — Cả 4 Mô hình</a:t>
            </a:r>
            <a:endParaRPr lang="en-US" sz="1800" dirty="0"/>
          </a:p>
        </p:txBody>
      </p:sp>
      <p:pic>
        <p:nvPicPr>
          <p:cNvPr id="7" name="Image 0" descr="C:\Users\ADMIN\OneDrive\Documents\MÁY HỌC\ĐỒ ÁN MÔN MÁY HỌC\CS114-Team10-Elderly-Scam-Detection\draft\scam-detection\reports\figures\confusion_matrices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02" y="1097280"/>
            <a:ext cx="4382316" cy="3566160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143000"/>
          <a:ext cx="365760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hình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(bỏ lọt)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(báo sai)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Linear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029200" y="3063240"/>
            <a:ext cx="3657600" cy="1554480"/>
          </a:xfrm>
          <a:prstGeom prst="rect">
            <a:avLst/>
          </a:prstGeom>
          <a:solidFill>
            <a:srgbClr val="F1F5F9"/>
          </a:solidFill>
          <a:ln w="6350">
            <a:solidFill>
              <a:srgbClr val="1E5FC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029200" y="3063240"/>
            <a:ext cx="54864" cy="1554480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11" name="Text 7"/>
          <p:cNvSpPr/>
          <p:nvPr/>
        </p:nvSpPr>
        <p:spPr>
          <a:xfrm>
            <a:off x="5166360" y="31363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đọc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166360" y="3474720"/>
            <a:ext cx="3429000" cy="1051560"/>
          </a:xfrm>
          <a:prstGeom prst="rect">
            <a:avLst/>
          </a:prstGeom>
          <a:noFill/>
          <a:ln/>
        </p:spPr>
        <p:txBody>
          <a:bodyPr wrap="square" lIns="25400" tIns="0" rIns="0" bIns="50800" rtlCol="0" anchor="t">
            <a:normAutofit/>
          </a:bodyPr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= tin lừa đảo bị bỏ lọt — nguy hiểm nhất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= tin bình thường bị báo nhầm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test: 84 lừa đảo + 355 bình thường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2004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— CS114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58184" y="73152"/>
            <a:ext cx="4928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lục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Backup: Learning Curves — Train vs Validation</a:t>
            </a:r>
            <a:endParaRPr lang="en-US" sz="1800" dirty="0"/>
          </a:p>
        </p:txBody>
      </p:sp>
      <p:pic>
        <p:nvPicPr>
          <p:cNvPr id="7" name="Image 0" descr="C:\Users\ADMIN\OneDrive\Documents\MÁY HỌC\ĐỒ ÁN MÔN MÁY HỌC\CS114-Team10-Elderly-Scam-Detection\draft\scam-detection\reports\figures\learning_curves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72" y="1097280"/>
            <a:ext cx="5190537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852160" y="1143000"/>
            <a:ext cx="2834640" cy="3474720"/>
          </a:xfrm>
          <a:prstGeom prst="rect">
            <a:avLst/>
          </a:prstGeom>
          <a:solidFill>
            <a:srgbClr val="F1F5F9"/>
          </a:solidFill>
          <a:ln w="6350">
            <a:solidFill>
              <a:srgbClr val="1E5FC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52160" y="1143000"/>
            <a:ext cx="54864" cy="3474720"/>
          </a:xfrm>
          <a:prstGeom prst="rect">
            <a:avLst/>
          </a:prstGeom>
          <a:solidFill>
            <a:srgbClr val="1E5FC2"/>
          </a:solidFill>
          <a:ln/>
        </p:spPr>
      </p:sp>
      <p:sp>
        <p:nvSpPr>
          <p:cNvPr id="10" name="Text 7"/>
          <p:cNvSpPr/>
          <p:nvPr/>
        </p:nvSpPr>
        <p:spPr>
          <a:xfrm>
            <a:off x="5989320" y="12161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định trung thực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89320" y="1554480"/>
            <a:ext cx="2606040" cy="2971800"/>
          </a:xfrm>
          <a:prstGeom prst="rect">
            <a:avLst/>
          </a:prstGeom>
          <a:noFill/>
          <a:ln/>
        </p:spPr>
        <p:txBody>
          <a:bodyPr wrap="square" lIns="25400" tIns="0" rIns="0" bIns="5080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F1 ≈ 0.96–1.0, Validation F1 ≈ 0.91–0.96 → còn khoảng cách 3–6 điểm (overfit nhẹ)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F1 của XGBoost, SVM, RF vẫn tăng theo số mẫu → thêm dữ liệu sẽ giúp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F1 (~0.96) sát F1 test (0.95) → khái quát ổn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2943</Words>
  <Application>Microsoft Office PowerPoint</Application>
  <PresentationFormat>On-screen Show (16:9)</PresentationFormat>
  <Paragraphs>296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UIT — ĐHQG-HCM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CS114 Final — Vietnamese Elderly Scam Detection</dc:title>
  <dc:subject>Phase 09 Defense Presentation</dc:subject>
  <dc:creator>Nhóm 10 — Đặng Chí Thanh, Bùi Thị Mỷ Cẩm, Hoàng Cao Sơn</dc:creator>
  <cp:lastModifiedBy>Mỷ Cẩm</cp:lastModifiedBy>
  <cp:revision>1</cp:revision>
  <dcterms:created xsi:type="dcterms:W3CDTF">2026-09-20T18:20:10Z</dcterms:created>
  <dcterms:modified xsi:type="dcterms:W3CDTF">2026-09-20T18:25:02Z</dcterms:modified>
</cp:coreProperties>
</file>