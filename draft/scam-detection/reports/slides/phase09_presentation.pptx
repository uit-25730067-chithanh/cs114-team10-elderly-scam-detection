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COVER
- Người trình bày đầu tiên: Đặng Chí Thanh (PM)
- Giới thiệu tên đề tài và các thành viên
- Nhấn mạnh: đề tài bảo vệ người cao tuổi khỏi lừa đảo tin nhắn tiếng Việt
- Trước khi chiếu: PowerPoint → chọn tất cả slide → Transitions → Fade (0.3s) → Apply To All. Không dùng script chèn XML (tránh lỗi file)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BỐI CẢNH
- Mở bằng câu hỏi gây suy nghĩ
- Nêu quy mô dataset: 2.193 mẫu thực tế, zero AI-generated
- 4 nhóm bẫy tâm lý — đây là đóng góp học thuật chính của nhóm
- Bài toán ưu tiên Recall vì bỏ lọt tin lừa đảo nguy hiểm hơn báo nhầm
- Chuyển sang: Mục tiêu nghiên cứu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MỤC TIÊU
- Đọc nhanh 4 mục tiêu
- Nhấn: cả 4 mô hình đều vượt chỉ tiêu đề ra
- Chuyển sang: Phần Dữ liệu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 — DATASET
- Nhấn mạnh Zero Synthetic Text (100% đời thực)
- 7 tầng kiểm toán nghiêm ngặt
- 3 thành viên thu thập độc lập
- Mất cân bằng lớp 4.2:1 nên dùng Recall/F1, không dùng Accuracy
- Chuyển sang: phân loại 4 nhóm bẫy tâm lý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NHÓM BẪY TÂM LÝ
- 4 pattern lừa đảo NCT được phát hiện trong data
- Giả dịch vụ công (159) và Đe dọa quyền lực (127) chiếm 68% (286/420)
- Nhóm Quà tặng (46) ít nhưng rất tinh vi
- Chuyển sang: pipeline kỹ thuật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PIPELINE
- Giải thích ngắn gọn 5 bước
- Nhấn mạnh Zero-Leakage: chia tập TRƯỚC, fit vectorizer chỉ trên train
- Feature vector cuối: 5.015 chiều (5.000 TF-IDF + 15 đặc trưng phụ)
- Naive Bayes chỉ dùng TF-IDF vì đặc trưng phụ có giá trị âm không hợp với MultinomialNB
- Chuyển sang: phần Mô hình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 — MODEL TABLE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10
- Q&amp;A: FN của từng mô hình — XGB 2, RF 2, SVM 3, NB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ROC &amp; PR
- ROC-AUC ≥ 99% cho tất cả: mô hình tách lớp tốt
- Vì dữ liệu mất cân bằng (4.2:1) nên PR curve phản ánh sát hơn ROC
- Chuyển sang: SHAP giải thích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SHAP XAI
- Điểm học thuật quan trọng: giải thích được vì sao mô hình kết luận lừa đảo
- Top-20 từ khóa đồng thuận lấy từ xếp hạng của cả 4 mô hình (reports/figures/top20_keywords_barplot.png)
- 'money' và 'number' là token chuẩn hóa từ bước tiền xử lý
- Cách đọc SHAP beeswarm: trục ngang là mức đẩy về lớp Lừa đảo; màu là giá trị đặc trưng
- Chuyển sang: Demo ứng dụng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 — DEMO
- Nếu cho phép: live demo trực tiếp streamlit app (streamlit run demo/app.py)
- Nếu không: dùng screenshot này
- Nhấn: trợ năng cho người cao tuổi (chỉnh cỡ chữ, hotline 1 chạm)
- Chuyển sang: Kết luận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KẾT LUẬN
- Nhóm đã hoàn thành đầy đủ các mục tiêu đề ra
- XGBoost là best model
- Điểm mạnh: dataset thực tế + XAI giải thích + demo trợ năng
- Hạn chế trung thực: tập test chỉ có 84 mẫu lừa đảo nên mỗi FN thay đổi Recall ~1.2 điểm
- Mở ra: tích hợp PhoBERT và mở rộng sang voice scam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15 — THAM KHẢO
- [1] XGBoost, [2] hiệu chỉnh xác suất SVM (CalibratedClassifierCV), [3] PhoBERT (hướng phát triển), [4] bộ dữ liệu SMS chính, [5] scikit-learn, [6] các nguồn dữ liệu bổ sung
- Q&amp;A về [4]: trích đúng theo yêu cầu của tác giả bộ dữ liệu trong README (bài IEEE Access 2026); nhóm không khẳng định bài đã xuất bản (chưa có tập/DOI). Điều nhóm dùng và kiểm chứng được là bộ dữ liệu công khai trên GitHub, mỗi mẫu có URL truy vết trong dataset.csv
- 1.944/2.193 mẫu (88.7%) đến từ repo [4]; 249 mẫu lừa đảo còn lại từ nguồn [6]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THANK YOU
- Mời Thầy và hội đồng đặt câu hỏi
- Backup slides có: siêu tham số, confusion matrices, learning curves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B1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B2 — CONFUSION MATRIX
- FN/FP tính từ Recall/Precision trong log trên tập test 439 mẫu (84 lừa đảo)
- XGBoost và Random Forest cùng FN nhỏ nhất; Random Forest báo nhầm nhiều hơn (FP cao hơn)
- Naive Bayes FN và FP cao nhất — vai trò baseline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B3 — LEARNING CURVES
- Không nói 'không overfit': Train F1 gần 1.0 nhưng Validation F1 thấp hơn ~3-6 điểm
- Điểm tích cực: Validation F1 vẫn đang tăng theo số mẫu (thêm dữ liệu sẽ cải thiện) và F1 test sát CV F1 nên không có dấu hiệu khái quát kém
- Naive Bayes: Train F1 giảm, Validation tăng dần — hội tụ ~0.91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9144000" cy="2583180"/>
          </a:xfrm>
          <a:prstGeom prst="rect">
            <a:avLst/>
          </a:prstGeom>
          <a:solidFill>
            <a:srgbClr val="102E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🛡️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HIỆN TIN NHẮN LỪA ĐẢO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NHẮM VÀO NGƯỜI CAO TUỔI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Detection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 — Máy học  |  Nhóm 10  |  ThS. Cáp Phạm Đình Thăng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·  Bùi Thị Mỷ Cẩm (25730013)  ·  Hoàng Cao Sơn (25730061)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23/09/2026  |  UIT —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cảnh báo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 ·  Tiền xử lý  ·  Feature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343400" cy="26060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[4], [6]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độc lập: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C:\Users\ADMIN\OneDrive\Documents\MÁY HỌC\ĐỒ ÁN MÔN MÁY HỌC\CS114-Team10-Elderly-Scam-Detection\draft\scam-detection\reports\figures\label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scam_category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3657600"/>
            <a:ext cx="54864" cy="9601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hóa ký tự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tiếng Việt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9" name="Text 27"/>
          <p:cNvSpPr/>
          <p:nvPr/>
        </p:nvSpPr>
        <p:spPr>
          <a:xfrm>
            <a:off x="7306056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tiền, OTP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2697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 đầu vào mô hình: 5.015 chiều (5.000 TF-IDF + 15 đặc trưng phụ) · Naive Bayes chỉ dùng 5.000 TF-IDF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 ·  Random Forest  ·  XGBoost  ·  SVM Linear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143000"/>
                <a:gridCol w="1143000"/>
                <a:gridCol w="114300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337560"/>
            <a:ext cx="8229600" cy="96012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3337560"/>
            <a:ext cx="54864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[1], SVM hiệu chỉnh xác suất [2], scikit-learn [5]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roc_curve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C:\Users\ADMIN\OneDrive\Documents\MÁY HỌC\ĐỒ ÁN MÔN MÁY HỌC\CS114-Team10-Elderly-Scam-Detection\draft\scam-detection\reports\figures\precision_recall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114800" cy="315468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— không phải “hộp đen”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khóa cảnh báo đồng thuận (Top-20 của 4 mô hình):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mày, số_định_danh → đe dọa quyền lực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gấp, viện_phí → thúc ép khẩn cấp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money, liên_hệ 198, thuế → giả mạo tổ chức, đòi tiền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 biểu đồ: SHAP &gt; 0 đẩy dự đoán về Lừa đảo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Màu điểm = giá trị đặc trưng (đỏ cao, xanh thấp)</a:t>
            </a:r>
            <a:endParaRPr lang="en-US" sz="1400" dirty="0"/>
          </a:p>
        </p:txBody>
      </p:sp>
      <p:pic>
        <p:nvPicPr>
          <p:cNvPr id="8" name="Image 0" descr="C:\Users\ADMIN\OneDrive\Documents\MÁY HỌC\ĐỒ ÁN MÔN MÁY HỌC\CS114-Team10-Elderly-Scam-Detection\draft\scam-detection\reports\figures\shap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180" y="1097280"/>
            <a:ext cx="2999320" cy="35661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43891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“money” là token chuẩn hóa cho số tiền trong tin nhắn (bước tiền xử lý).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Ứng dụng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  ·  Kết quả  ·  Hướng phát triển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Kết luận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demo_03_scam_detection_ver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143000"/>
            <a:ext cx="480060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416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phân tích một tin nhắn lừa đảo trên giao diện demo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Kết luận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34747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được so sánh (tối thiểu 3)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 — Zero Synthetic Text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— giải thích được quyết định của mô hình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hoạt động đầy đủ, thân thiện người cao tuổi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34747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3474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[3]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34975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T. Chen &amp; C. Guestrin, “XGBoost: A Scalable Tree Boosting System,” KDD 2016.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Platt, “Probabilistic Outputs for Support Vector Machines and Comparisons to Regularized Likelihood Methods,” Advances in Large Margin Classifiers, 1999.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D. Q. Nguyen &amp; A. T. Nguyen, “PhoBERT: Pre-trained Language Models for Vietnamese,” Findings of EMNLP 2020.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N. T. T. Tran, H. K. Le, M. T. Nguyen, V. T. Nguyen, and H. D. Mai, “Vietnamese SMS Dataset with Quality Assurance,” IEEE Access, 2026 (theo trích dẫn của tác giả trong README bộ dữ liệu; chưa có tập/DOI). GitHub: trannguyenthaituan251209/vietnamese_sms_dataset (1.944 mẫu: 1.773 bình thường + 171 lừa đảo; giấy phép CC BY 4.0 theo README; truy cập 21/09/2026).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F. Pedregosa et al., “Scikit-learn: Machine Learning in Python,” JMLR vol. 12, 2011.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Nguồn bổ sung của tập lừa đảo (249/420 mẫu, có URL truy vết trong dataset.csv): GitHub ghitatruongle/lachancuocgoi (162), duynguyenhoang22/SMS_Phishing_Detection — đồ án IE403 (73), duynguyenhoang22/ViSmish_Detection (1); báo chí và video: Thanh Niên, Dân trí, Tuổi Trẻ, VTV24 (13); truy cập 21/09/2026.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🛡️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ơn Thầy và các bạn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0" y="269748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23/09/2026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2461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 —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Q&amp;A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  ·  Confusion Matrices  ·  Learning Curves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794760"/>
                <a:gridCol w="22860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confusion_matrice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CS114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758184" y="73152"/>
            <a:ext cx="4928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learning_curves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CS114 Final — Vietnamese Elderly Scam Detection</dc:title>
  <dc:subject>Phase 09 Defense Presentation</dc:subject>
  <dc:creator>Nhóm 10 — Đặng Chí Thanh, Bùi Thị Mỷ Cẩm, Hoàng Cao Sơn</dc:creator>
  <cp:lastModifiedBy>Nhóm 10 — Đặng Chí Thanh, Bùi Thị Mỷ Cẩm, Hoàng Cao Sơn</cp:lastModifiedBy>
  <cp:revision>1</cp:revision>
  <dcterms:created xsi:type="dcterms:W3CDTF">2026-09-21T10:34:37Z</dcterms:created>
  <dcterms:modified xsi:type="dcterms:W3CDTF">2026-09-21T10:34:37Z</dcterms:modified>
</cp:coreProperties>
</file>