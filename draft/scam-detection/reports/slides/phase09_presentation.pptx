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243"/>
    <p:restoredTop sz="94610"/>
  </p:normalViewPr>
  <p:slideViewPr>
    <p:cSldViewPr snapToGrid="0" snapToObjects="1">
      <p:cViewPr>
        <p:scale>
          <a:sx n="130" d="100"/>
          <a:sy n="130" d="100"/>
        </p:scale>
        <p:origin x="456" y="8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1356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 — BÌA
- Người trình bày Khối 1 (slide 1–8, ~4 phút 30 giây): Đặng Chí Thanh
- Giới thiệu tên đề tài chuẩn và các thành viên; nhấn mạnh: bảo vệ người cao tuổi khỏi lừa đảo tin nhắn tiếng Việt
- Trước khi chiếu: PowerPoint → chọn tất cả slide → Transitions → Fade (0.3s) → Apply To All. Không dùng script chèn XML (tránh lỗi file)
- Phân bổ 15 phút: Thanh slide 1–8 (4:30) · Cẩm slide 9–12 (5:00) · Sơn slide 13–18 (4:30) · dư ~1 phút. Slide phân đoạn (5, 9, 13, 15, 19) không nói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 — AGENDA
- Nói không quá 20 giây: đọc nhanh 5 phần và ai trình bày phần nào
- Chuyển sang: PHẦN 1 — Bối cảnh &amp; Vấn đề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3 — BỐI CẢNH
- Mở bằng câu hỏi gây suy nghĩ
- Quy mô dataset: 2.193 mẫu thực tế; bộ dữ liệu chính công bố là tin nhắn thật, không do AI sinh
- 4 nhóm bẫy tâm lý — đóng góp học thuật chính của nhóm
- Bài toán ưu tiên Recall vì bỏ lọt tin lừa đảo nguy hiểm hơn báo nhầm
- Chuyển sang: mục tiêu nghiên cứu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4 — MỤC TIÊU
- Đọc nhanh 4 mục tiêu
- Nhấn: cả 4 mô hình đều vượt chỉ tiêu đề ra
- Chuyển sang: PHẦN 2 — Dữ liệu &amp; Phương pháp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6 — DATASET
- Nhấn mạnh Zero Synthetic Text (100% tin nhắn đời thực)
- 7 tầng kiểm toán; mỗi mẫu có source_url truy vết (bộ dữ liệu SMS công khai trên GitHub + báo chí)
- Cách nói đúng về thu thập: 3 thành viên TUYỂN CHỌN và gán nhãn từ nguồn công khai (Thanh 1.773 bình thường; Sơn 215 và Cẩm 205 lừa đảo), không phải tự soạn tin nhắn
- Mất cân bằng lớp 4.2:1 nên dùng Recall/F1, không dùng Accuracy
- Chuyển sang: 4 nhóm bẫy tâm lý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7 — NHÓM BẪY TÂM LÝ
- 4 pattern lừa đảo nhắm vào người cao tuổi được phát hiện trong dữ liệu
- Giả dịch vụ công (159) và Đe dọa quyền lực (127) chiếm 68% (286/420)
- Nhóm Quà tặng (46) ít nhưng rất tinh vi
- Chuyển sang: pipeline kỹ thuật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8 — PIPELINE
- Giải thích ngắn gọn 5 bước
- Nhấn mạnh Zero-Leakage: chia tập TRƯỚC, fit vectorizer chỉ trên train
- Vector cuối: 5.015 chiều (5.000 TF-IDF + 15 đặc trưng phụ)
- Naive Bayes chỉ dùng TF-IDF vì đặc trưng phụ có giá trị âm không hợp với MultinomialNB
- Teencode: từ điển do nhóm tự biên soạn (160 mục), cố ý loại các từ đơn mơ hồ để tránh biến đổi sai nghĩa; đặc trưng has_leet_speak để mô hình tự học phần còn lại
- Chuyển sang: PHẦN 3 — Mô hình &amp; Kết quả (Cẩm trình bày)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10 — BẢNG SO SÁNH MÔ HÌNH
- Người trình bày Khối 2 (slide 9–12, ~5 phút): Bùi Thị Mỷ Cẩm
- XGBoost best overall: F1=95.35%, Recall=97.62%
- SVM có ROC-AUC cao nhất (99.86%) nhưng F1 thấp hơn XGBoost
- Naive Bayes vẫn đạt F1=88.64% — baseline tốt, chỉ dùng TF-IDF
- Nhấn: tất cả đều vượt chỉ tiêu GV yêu cầu
- Q&amp;A: ROC-AUC Random Forest = 99.77% — anh Thanh đánh giá lại random_forest.pkl trên tập test (0.99765), khớp với ảnh ROC ở slide 11
- Q&amp;A: FN của từng mô hình — XGB 2, RF 2, SVM 3, NB 6
- Q&amp;A: dùng scale_pos_weight thay vì SMOTE để giữ nguyên tắc Zero Synthetic Text (không sinh mẫu giả)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11 — ROC &amp; PR
- ROC-AUC ≥ 99% cho tất cả: mô hình tách lớp tốt
- Vì dữ liệu mất cân bằng (4.2:1) nên PR curve phản ánh sát hơn ROC
- Chuyển sang: SHAP giải thích mô hình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12 — SHAP XAI
- Điểm học thuật quan trọng: giải thích được vì sao mô hình kết luận lừa đảo
- Cách đọc SHAP beeswarm: trục ngang là mức đẩy về lớp Lừa đảo (bên phải) hay Bình thường (bên trái); màu là giá trị đặc trưng (đỏ cao, xanh thấp)
- Top-20 xếp theo MỨC QUAN TRỌNG, không phải theo hướng: một nửa số từ thiên về tin BÌNH THƯỜNG (money, number, time, liên_hệ 198, soạn, viettel — tỉ lệ lừa đảo ≤ 2%)
- Q&amp;A 'money là gì?': là thẻ ẩn danh [MONEY] có sẵn trong bộ dữ liệu gốc (che số tiền), KHÔNG phải kết quả regex của nhóm; xuất hiện chủ yếu ở tin bình thường (1.221/1.236 dòng thô)
- Q&amp;A 'mô hình có học vẹt nguồn dữ liệu không?': hai nguồn được ẩn danh bằng thẻ khác nhau (bình thường: [MONEY]/[NUMBER]/[TIME]; lừa đảo: [ĐƯỜNG_DẪN]/[THƯƠNG_HIỆU]/[SỐ_TIỀN]). Kiểm tra: bỏ toàn bộ 453 đặc trưng chứa thẻ rồi huấn luyện lại đúng quy trình notebook — XGBoost F1 95.35% → 94.25%, Naive Bayes F1 88.64% → 85.03% (kết quả: reports/ablation_masking_tags.json)
- Chuyển sang: PHẦN 4 — Demo (Sơn trình bày)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14 — DEMO
- Người trình bày Khối 3 (slide 13–18, ~4 phút 30 giây): Hoàng Cao Sơn — 60 giây live demo hoặc dùng screenshot
- Nếu cho phép: live demo trực tiếp (streamlit run demo/app.py)
- Nhấn: trợ năng cho người cao tuổi (chỉnh cỡ chữ, hotline 1 chạm)
- Chuyển sang: PHẦN 5 — Kết luận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16 — KẾT LUẬN
- Hoàn thành đầy đủ các mục tiêu đề ra; XGBoost là mô hình tốt nhất
- Điểm mạnh: dữ liệu thực tế có nguồn truy vết + XAI giải thích + demo trợ năng
- Hạn chế trung thực: test chỉ 84 mẫu lừa đảo; hai nguồn dữ liệu ẩn danh bằng thẻ khác nhau (đã kiểm tra bằng thử nghiệm bỏ thẻ, hiệu năng XGBoost giảm ~1 điểm F1)
- Mở ra: PhoBERT (cần GPU, chưa thử nghiệm) và lừa đảo qua giọng nói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17 — THAM KHẢO
- Thứ tự theo vòng đời dự án: nguồn dữ liệu [1]–[2] → tiền xử lý NLP [3]–[6] → thuật toán học máy [7]–[11] → XAI [12]–[13] → trợ năng web [14] → hướng phát triển [15]
- Q&amp;A về [1]: trích đúng theo yêu cầu của tác giả bộ dữ liệu trong README (bài IEEE Access 2026); nhóm không khẳng định bài đã xuất bản (chưa có tập/DOI). Điều nhóm dùng và kiểm chứng được là bộ dữ liệu công khai trên GitHub (CC BY 4.0), mỗi mẫu có URL truy vết trong dataset.csv
- 1.944/2.193 mẫu (88.7%) đến từ repo [1]; 249 mẫu lừa đảo còn lại từ nguồn [2]
- [10] Platt: trích theo bản đã xuất bản (MIT Press, 2000, pp. 61–74); bản thảo năm 1999 mang tên dài 'Probabilistic Outputs for Support Vector Machines and Comparisons to Regularized Likelihood Methods'
- Chỉ 15/18 tài liệu lên slide; LIBLINEAR (LinearSVC), McCallum &amp; Nigam (Naive Bayes) và Streamlit nằm trong báo cáo Word. Bằng chứng kiểm chứng: reports/research-cam-phase09-references-lifecycle.md
- Q&amp;A đạo đức/PII: khử PII 100%; dữ liệu lừa đảo lấy từ nguồn công khai (407/420 mẫu từ các bộ dữ liệu GitHub, 13/420 từ báo chí và video điều tra), mọi mẫu có source_url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18 — CẢM ƠN
- Mời Thầy và hội đồng đặt câu hỏi
- Backup slides (19–22): siêu tham số, confusion matrices, learning curves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20 — SIÊU THAM SỐ
- XGBoost và Random Forest: RandomizedSearchCV n_iter=25, 5-fold; SVM và Naive Bayes: GridSearchCV 5-fold
- Naive Bayes chọn alpha=0.01 và chỉ dùng TF-IDF vì đặc trưng phụ có giá trị âm
- CV F1 (train) gần với F1 test → mô hình khái quát tốt
- Q&amp;A SVM: LinearSVC chỉ có decision_function; CalibratedClassifierCV (Platt scaling qua 5-fold) đổi khoảng cách thành xác suất [0, 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21 — CONFUSION MATRIX
- FN/FP tính từ Recall/Precision trong log trên tập test 439 mẫu (84 lừa đảo)
- XGBoost và Random Forest cùng FN nhỏ nhất; Random Forest báo nhầm nhiều hơn (FP cao hơn)
- Naive Bayes FN và FP cao nhất — vai trò baseline
- Q&amp;A 'test 84 mẫu có đủ tin cậy?': nhóm thừa nhận hạn chế; bù bằng 5-fold CV trên 1.754 mẫu train (CV F1 XGBoost = 0.9603)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22 — LEARNING CURVES
- Không nói 'không overfit': Train F1 gần 1.0 nhưng Validation F1 thấp hơn ~3-6 điểm (overfit nhẹ, đặc thù mô hình cây trên 5.015 chiều)
- Điểm tích cực: Validation F1 vẫn đang tăng theo số mẫu và F1 test sát CV F1 nên không có dấu hiệu khái quát kém
- Naive Bayes: Train F1 giảm, Validation tăng dần — hội tụ ~0.91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cdtist/dev/uit/cs114/assignments/Final/draft/scam-detection/reports/slides/assets/logo_uit_dhqg_tra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365760"/>
            <a:ext cx="2743200" cy="40696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978408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Nghiên cứu và Xây dựng Hệ thống</a:t>
            </a:r>
            <a:endParaRPr lang="en-US" sz="2400" dirty="0"/>
          </a:p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hiện Tin nhắn &amp; Kịch bản Thao túng Tâm lý Lừa đảo</a:t>
            </a:r>
            <a:endParaRPr lang="en-US" sz="2400" dirty="0"/>
          </a:p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nhắm vào Người cao tuổi tại Việt Nam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457200" y="2431555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Vietnamese Elderly Scam Message &amp; Psychological Manipulation Detection</a:t>
            </a:r>
            <a:endParaRPr lang="en-US" sz="1250" dirty="0"/>
          </a:p>
        </p:txBody>
      </p:sp>
      <p:sp>
        <p:nvSpPr>
          <p:cNvPr id="5" name="Shape 2"/>
          <p:cNvSpPr/>
          <p:nvPr/>
        </p:nvSpPr>
        <p:spPr>
          <a:xfrm>
            <a:off x="3291840" y="2998782"/>
            <a:ext cx="256032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6" name="Text 3"/>
          <p:cNvSpPr/>
          <p:nvPr/>
        </p:nvSpPr>
        <p:spPr>
          <a:xfrm>
            <a:off x="457200" y="32631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Môn học: CS114 — Máy học  •  GVHD: ThS. Cáp Phạm Đình Thăng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57200" y="3641289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10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395000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Đặng Chí Thanh (25730067)   •   Bùi Thị Mỷ Cẩm (25730013)   •   Hoàng Cao Sơn (25730061)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57200" y="46405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KHOA KHOA HỌC MÁY TÍNH  •  TP. HỒ CHÍ MINH, THÁNG 09/2026</a:t>
            </a:r>
            <a:endParaRPr lang="en-US" sz="1050" dirty="0"/>
          </a:p>
        </p:txBody>
      </p:sp>
    </p:spTree>
  </p:cSld>
  <p:clrMapOvr>
    <a:masterClrMapping/>
  </p:clrMapOvr>
  <p:transition spd="slow">
    <p:randomBar dir="vert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Lộ trình báo cáo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4023360" cy="105156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777240" cy="105156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9" name="Text 7"/>
          <p:cNvSpPr/>
          <p:nvPr/>
        </p:nvSpPr>
        <p:spPr>
          <a:xfrm>
            <a:off x="457200" y="1143000"/>
            <a:ext cx="777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</a:t>
            </a:r>
            <a:endParaRPr lang="en-US" sz="1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371600" y="1234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Giới thiệu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160020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Bối cảnh, vấn đề và mục tiêu của nhóm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2331720"/>
            <a:ext cx="4023360" cy="105156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3" name="Shape 11"/>
          <p:cNvSpPr/>
          <p:nvPr/>
        </p:nvSpPr>
        <p:spPr>
          <a:xfrm>
            <a:off x="457200" y="2331720"/>
            <a:ext cx="777240" cy="105156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4" name="Text 12"/>
          <p:cNvSpPr/>
          <p:nvPr/>
        </p:nvSpPr>
        <p:spPr>
          <a:xfrm>
            <a:off x="457200" y="2331720"/>
            <a:ext cx="777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</a:t>
            </a:r>
            <a:endParaRPr lang="en-US" sz="1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24231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Dữ liệu &amp; Phương pháp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371600" y="278892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2.193 mẫu, 4 nhóm bẫy tâm lý, pipeline tiền xử lý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3520440"/>
            <a:ext cx="4023360" cy="105156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8" name="Shape 16"/>
          <p:cNvSpPr/>
          <p:nvPr/>
        </p:nvSpPr>
        <p:spPr>
          <a:xfrm>
            <a:off x="457200" y="3520440"/>
            <a:ext cx="777240" cy="105156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9" name="Text 17"/>
          <p:cNvSpPr/>
          <p:nvPr/>
        </p:nvSpPr>
        <p:spPr>
          <a:xfrm>
            <a:off x="457200" y="3520440"/>
            <a:ext cx="777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</a:t>
            </a:r>
            <a:endParaRPr lang="en-US" sz="1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371600" y="36118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Mô hình &amp; Kết quả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71600" y="397764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sánh 4 mô hình, ROC/PR, giải thích SHAP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663440" y="1143000"/>
            <a:ext cx="4023360" cy="105156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23" name="Shape 21"/>
          <p:cNvSpPr/>
          <p:nvPr/>
        </p:nvSpPr>
        <p:spPr>
          <a:xfrm>
            <a:off x="4663440" y="1143000"/>
            <a:ext cx="777240" cy="105156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24" name="Text 22"/>
          <p:cNvSpPr/>
          <p:nvPr/>
        </p:nvSpPr>
        <p:spPr>
          <a:xfrm>
            <a:off x="4663440" y="1143000"/>
            <a:ext cx="777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</a:t>
            </a:r>
            <a:endParaRPr lang="en-US" sz="1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77840" y="1234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ứng dụng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577840" y="160020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Streamlit thân thiện với người cao tuổi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663440" y="2331720"/>
            <a:ext cx="4023360" cy="105156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28" name="Shape 26"/>
          <p:cNvSpPr/>
          <p:nvPr/>
        </p:nvSpPr>
        <p:spPr>
          <a:xfrm>
            <a:off x="4663440" y="2331720"/>
            <a:ext cx="777240" cy="105156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29" name="Text 27"/>
          <p:cNvSpPr/>
          <p:nvPr/>
        </p:nvSpPr>
        <p:spPr>
          <a:xfrm>
            <a:off x="4663440" y="2331720"/>
            <a:ext cx="777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</a:t>
            </a:r>
            <a:endParaRPr lang="en-US" sz="1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577840" y="24231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luận &amp; Hướng phát triển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577840" y="278892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quả, hạn chế đã biết, PhoBERT và voice scam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663440" y="3520440"/>
            <a:ext cx="4023360" cy="105156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33" name="Shape 31"/>
          <p:cNvSpPr/>
          <p:nvPr/>
        </p:nvSpPr>
        <p:spPr>
          <a:xfrm>
            <a:off x="4663440" y="3520440"/>
            <a:ext cx="777240" cy="105156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4" name="Text 32"/>
          <p:cNvSpPr/>
          <p:nvPr/>
        </p:nvSpPr>
        <p:spPr>
          <a:xfrm>
            <a:off x="4663440" y="3520440"/>
            <a:ext cx="777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PHỤ LỤC</a:t>
            </a:r>
            <a:endParaRPr lang="en-US" sz="10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Q&amp;A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77840" y="36118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trả lời phản biện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5577840" y="397764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Siêu tham số, Confusion Matrix, Learning Curves</a:t>
            </a:r>
            <a:endParaRPr lang="en-US" sz="1250" dirty="0"/>
          </a:p>
        </p:txBody>
      </p:sp>
      <p:sp>
        <p:nvSpPr>
          <p:cNvPr id="38" name="Text 35"/>
          <p:cNvSpPr/>
          <p:nvPr/>
        </p:nvSpPr>
        <p:spPr>
          <a:xfrm>
            <a:off x="457200" y="4773168"/>
            <a:ext cx="70408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 Phát hiện Tin nhắn &amp; Kịch bản Thao túng Tâm lý Lừa đảo nhắm vào Người cao tuổi tại Việt Nam</a:t>
            </a:r>
            <a:endParaRPr lang="en-US" sz="720" dirty="0"/>
          </a:p>
        </p:txBody>
      </p:sp>
      <p:sp>
        <p:nvSpPr>
          <p:cNvPr id="39" name="Text 36"/>
          <p:cNvSpPr/>
          <p:nvPr/>
        </p:nvSpPr>
        <p:spPr>
          <a:xfrm>
            <a:off x="7589520" y="47731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22</a:t>
            </a:r>
            <a:endParaRPr lang="en-US" sz="950" dirty="0"/>
          </a:p>
        </p:txBody>
      </p:sp>
    </p:spTree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1 · Giới thiệu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Bối cảnh &amp; Vấn đề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2560320" cy="18745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2560320" cy="5486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9" name="Text 7"/>
          <p:cNvSpPr/>
          <p:nvPr/>
        </p:nvSpPr>
        <p:spPr>
          <a:xfrm>
            <a:off x="594360" y="128016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E5F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2.193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594360" y="198424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Mẫu tin nhắn thực tế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94360" y="233172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1.773 bình thường · 420 lừa đảo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có URL nguồn truy vết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91840" y="1143000"/>
            <a:ext cx="2560320" cy="18745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3" name="Shape 11"/>
          <p:cNvSpPr/>
          <p:nvPr/>
        </p:nvSpPr>
        <p:spPr>
          <a:xfrm>
            <a:off x="3291840" y="1143000"/>
            <a:ext cx="2560320" cy="5486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4" name="Text 12"/>
          <p:cNvSpPr/>
          <p:nvPr/>
        </p:nvSpPr>
        <p:spPr>
          <a:xfrm>
            <a:off x="3429000" y="128016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E5F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3429000" y="198424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bẫy tâm lý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429000" y="233172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Quyền lực · Gia đình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Quà tặng · Dịch vụ công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26480" y="1143000"/>
            <a:ext cx="2560320" cy="18745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8" name="Shape 16"/>
          <p:cNvSpPr/>
          <p:nvPr/>
        </p:nvSpPr>
        <p:spPr>
          <a:xfrm>
            <a:off x="6126480" y="1143000"/>
            <a:ext cx="2560320" cy="5486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9" name="Text 17"/>
          <p:cNvSpPr/>
          <p:nvPr/>
        </p:nvSpPr>
        <p:spPr>
          <a:xfrm>
            <a:off x="6263640" y="128016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E5F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6263640" y="198424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Văn bản do AI tự sinh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33172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tin nhắn đời thực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toán 7 tầng · 0% PII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291840"/>
            <a:ext cx="8229600" cy="1325880"/>
          </a:xfrm>
          <a:prstGeom prst="rect">
            <a:avLst/>
          </a:prstGeom>
          <a:solidFill>
            <a:srgbClr val="EFF6FF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23" name="Shape 21"/>
          <p:cNvSpPr/>
          <p:nvPr/>
        </p:nvSpPr>
        <p:spPr>
          <a:xfrm>
            <a:off x="457200" y="3291840"/>
            <a:ext cx="54864" cy="132588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24" name="Text 22"/>
          <p:cNvSpPr/>
          <p:nvPr/>
        </p:nvSpPr>
        <p:spPr>
          <a:xfrm>
            <a:off x="685800" y="3364992"/>
            <a:ext cx="786384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i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“Tại sao người cao tuổi dễ bị lừa đảo qua tin nhắn hơn?”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85800" y="4005072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toán: phát hiện sớm tin nhắn thao túng tâm lý — ưu tiên không bỏ lọt (Recall), vì bỏ sót nguy hiểm hơn báo nhầm.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57200" y="4773168"/>
            <a:ext cx="70408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 Phát hiện Tin nhắn &amp; Kịch bản Thao túng Tâm lý Lừa đảo nhắm vào Người cao tuổi tại Việt Nam</a:t>
            </a:r>
            <a:endParaRPr lang="en-US" sz="720" dirty="0"/>
          </a:p>
        </p:txBody>
      </p:sp>
      <p:sp>
        <p:nvSpPr>
          <p:cNvPr id="28" name="Text 25"/>
          <p:cNvSpPr/>
          <p:nvPr/>
        </p:nvSpPr>
        <p:spPr>
          <a:xfrm>
            <a:off x="7589520" y="47731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22</a:t>
            </a:r>
            <a:endParaRPr lang="en-US" sz="950" dirty="0"/>
          </a:p>
        </p:txBody>
      </p:sp>
    </p:spTree>
  </p:cSld>
  <p:clrMapOvr>
    <a:masterClrMapping/>
  </p:clrMapOvr>
  <p:transition spd="med">
    <p:pull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1 · Giới thiệu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Mục tiêu &amp; Đóng góp của Nhóm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4023360" cy="16459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54864" cy="164592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9" name="Text 7"/>
          <p:cNvSpPr/>
          <p:nvPr/>
        </p:nvSpPr>
        <p:spPr>
          <a:xfrm>
            <a:off x="594360" y="121615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sánh 4 mô hình ML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1554480"/>
            <a:ext cx="3794760" cy="11430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Bayes · Random Forest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· SVM Linear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Cùng tập test 439 mẫu (stratified 80/20)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663440" y="1143000"/>
            <a:ext cx="4023360" cy="16459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2" name="Shape 10"/>
          <p:cNvSpPr/>
          <p:nvPr/>
        </p:nvSpPr>
        <p:spPr>
          <a:xfrm>
            <a:off x="4663440" y="1143000"/>
            <a:ext cx="54864" cy="164592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3" name="Text 11"/>
          <p:cNvSpPr/>
          <p:nvPr/>
        </p:nvSpPr>
        <p:spPr>
          <a:xfrm>
            <a:off x="4800600" y="121615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Vượt chỉ tiêu kỹ thuật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00600" y="1554480"/>
            <a:ext cx="3794760" cy="11430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≥ 88% · Recall ≥ 92%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 4 mô hình đều đạt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Ưu tiên Recall: bỏ lọt nguy hiểm hơn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4023360" cy="16459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6" name="Shape 14"/>
          <p:cNvSpPr/>
          <p:nvPr/>
        </p:nvSpPr>
        <p:spPr>
          <a:xfrm>
            <a:off x="457200" y="2926080"/>
            <a:ext cx="54864" cy="164592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7" name="Text 15"/>
          <p:cNvSpPr/>
          <p:nvPr/>
        </p:nvSpPr>
        <p:spPr>
          <a:xfrm>
            <a:off x="594360" y="299923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Giải thích AI (XAI)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" y="3337560"/>
            <a:ext cx="3794760" cy="11430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Beeswarm trên XGBoost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Top-20 từ khóa quan trọng đồng thuận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Trả lời: vì sao tin này bị coi là lừa đảo?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663440" y="2926080"/>
            <a:ext cx="4023360" cy="16459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20" name="Shape 18"/>
          <p:cNvSpPr/>
          <p:nvPr/>
        </p:nvSpPr>
        <p:spPr>
          <a:xfrm>
            <a:off x="4663440" y="2926080"/>
            <a:ext cx="54864" cy="164592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21" name="Text 19"/>
          <p:cNvSpPr/>
          <p:nvPr/>
        </p:nvSpPr>
        <p:spPr>
          <a:xfrm>
            <a:off x="4800600" y="299923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Streamlit cho người cao tuổi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800600" y="3337560"/>
            <a:ext cx="3794760" cy="11430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Chữ 100–150%, hotline 156/113 một chạm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Dán tin nhắn → tự động phân tích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16/16 kiểm thử E2E Playwright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457200" y="4773168"/>
            <a:ext cx="70408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 Phát hiện Tin nhắn &amp; Kịch bản Thao túng Tâm lý Lừa đảo nhắm vào Người cao tuổi tại Việt Nam</a:t>
            </a:r>
            <a:endParaRPr lang="en-US" sz="720" dirty="0"/>
          </a:p>
        </p:txBody>
      </p:sp>
      <p:sp>
        <p:nvSpPr>
          <p:cNvPr id="25" name="Text 22"/>
          <p:cNvSpPr/>
          <p:nvPr/>
        </p:nvSpPr>
        <p:spPr>
          <a:xfrm>
            <a:off x="7589520" y="47731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22</a:t>
            </a:r>
            <a:endParaRPr lang="en-US" sz="950" dirty="0"/>
          </a:p>
        </p:txBody>
      </p:sp>
    </p:spTree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  •  BÁO CÁO ĐỒ ÁN CS114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3474720" y="658368"/>
            <a:ext cx="2194560" cy="329184"/>
          </a:xfrm>
          <a:prstGeom prst="roundRect">
            <a:avLst>
              <a:gd name="adj" fmla="val 22222"/>
            </a:avLst>
          </a:prstGeom>
          <a:solidFill>
            <a:srgbClr val="1E5FC2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3474720" y="658368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Dữ liệu &amp; Phương pháp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291840" y="1783080"/>
            <a:ext cx="256032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7" name="Shape 5"/>
          <p:cNvSpPr/>
          <p:nvPr/>
        </p:nvSpPr>
        <p:spPr>
          <a:xfrm>
            <a:off x="1143000" y="1993392"/>
            <a:ext cx="6858000" cy="2560320"/>
          </a:xfrm>
          <a:prstGeom prst="roundRect">
            <a:avLst>
              <a:gd name="adj" fmla="val 4286"/>
            </a:avLst>
          </a:prstGeom>
          <a:solidFill>
            <a:srgbClr val="102E5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1417320" y="2240280"/>
            <a:ext cx="6309360" cy="21488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Đặc điểm tập dữ liệu: 2.193 mẫu thực tế có nguồn gốc kiểm chứng (Zero Synthetic Text)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loại 4 nhóm bẫy tâm lý phổ biến nhắm vào người cao tuổi tại Việt Nam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xử lý ngôn ngữ tự nhiên: Tiền xử lý tiếng Việt, TF-IDF 5.000 từ và 15 đặc trưng miền tâm lý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chuẩn Zero-Leakage: Phân lập tuyệt đối dữ liệu Train/Test trước mọi bước huấn luyện</a:t>
            </a:r>
            <a:endParaRPr lang="en-US" sz="1200" dirty="0"/>
          </a:p>
        </p:txBody>
      </p:sp>
    </p:spTree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2 · Dữ liệu &amp; Phương pháp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626364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Dataset: 2.193 Mẫu Thực Tế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253242"/>
            <a:ext cx="4343400" cy="2495798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2.193 mẫu · Stratified Split 80/20 · nguồn [1], [2]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Bình thường (label 0): 1.773 mẫu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Lừa đảo (label 1): 420 mẫu — tỉ lệ 4.2:1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toán 7 tầng: 0% PII, 0% văn bản tổng hợp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Tuyển chọn: Thanh 1.773 · Sơn 215 · Cẩm 205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1.754 · Test 439 (355 bình thường + 84 lừa đảo)</a:t>
            </a:r>
            <a:endParaRPr lang="en-US" sz="1500" dirty="0"/>
          </a:p>
        </p:txBody>
      </p:sp>
      <p:pic>
        <p:nvPicPr>
          <p:cNvPr id="8" name="Image 0" descr="/Users/tcdtist/dev/uit/cs114/assignments/Final/draft/scam-detection/reports/figures/label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253242"/>
            <a:ext cx="3749040" cy="229411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937760" y="362051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bố nhãn (train + test)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3931920"/>
            <a:ext cx="8229600" cy="685800"/>
          </a:xfrm>
          <a:prstGeom prst="rect">
            <a:avLst/>
          </a:prstGeom>
          <a:solidFill>
            <a:srgbClr val="FEF3C7"/>
          </a:solidFill>
          <a:ln w="63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1" name="Shape 8"/>
          <p:cNvSpPr/>
          <p:nvPr/>
        </p:nvSpPr>
        <p:spPr>
          <a:xfrm>
            <a:off x="457200" y="3931920"/>
            <a:ext cx="54864" cy="6858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2" name="Text 9"/>
          <p:cNvSpPr/>
          <p:nvPr/>
        </p:nvSpPr>
        <p:spPr>
          <a:xfrm>
            <a:off x="640080" y="3931920"/>
            <a:ext cx="7955280" cy="685800"/>
          </a:xfrm>
          <a:prstGeom prst="rect">
            <a:avLst/>
          </a:prstGeom>
          <a:noFill/>
          <a:ln/>
        </p:spPr>
        <p:txBody>
          <a:bodyPr wrap="square" lIns="25400" tIns="0" rIns="0" bIns="254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Mất cân bằng 4.2:1 → đánh giá bằng Recall / F1 thay vì Accuracy; XGBoost bù bằng scale_pos_weight = 4.22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457200" y="4773168"/>
            <a:ext cx="70408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 Phát hiện Tin nhắn &amp; Kịch bản Thao túng Tâm lý Lừa đảo nhắm vào Người cao tuổi tại Việt Nam</a:t>
            </a:r>
            <a:endParaRPr lang="en-US" sz="720" dirty="0"/>
          </a:p>
        </p:txBody>
      </p:sp>
      <p:sp>
        <p:nvSpPr>
          <p:cNvPr id="15" name="Text 11"/>
          <p:cNvSpPr/>
          <p:nvPr/>
        </p:nvSpPr>
        <p:spPr>
          <a:xfrm>
            <a:off x="7589520" y="47731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22</a:t>
            </a:r>
            <a:endParaRPr lang="en-US" sz="950" dirty="0"/>
          </a:p>
        </p:txBody>
      </p:sp>
    </p:spTree>
  </p:cSld>
  <p:clrMapOvr>
    <a:masterClrMapping/>
  </p:clrMapOvr>
  <p:transition spd="med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2 · Dữ liệu &amp; Phương pháp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8131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Nhóm Bẫy Tâm lý trong Dataset</a:t>
            </a:r>
            <a:endParaRPr lang="en-US" sz="1800" dirty="0"/>
          </a:p>
        </p:txBody>
      </p:sp>
      <p:pic>
        <p:nvPicPr>
          <p:cNvPr id="7" name="Image 0" descr="/Users/tcdtist/dev/uit/cs114/assignments/Final/draft/scam-detection/reports/figures/scam_category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06918"/>
            <a:ext cx="4023360" cy="195816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3338234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 mẫu lừa đảo theo nhóm bẫy tâm lý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143000"/>
          <a:ext cx="4023360" cy="228600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Nhóm bẫy tâm lý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Mẫu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Kịch bản tiêu biểu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Đe dọa quyền lực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Giả cảnh sát / tòa án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Khẩn cấp gia đình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cháu tai nạn, cần tiền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Dụ dỗ quà tặng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Trúng thưởng, ưu đãi sức khỏe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Giả dịch vụ công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BHXH, điện lực giả mạo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3795434"/>
            <a:ext cx="8229600" cy="822286"/>
          </a:xfrm>
          <a:prstGeom prst="rect">
            <a:avLst/>
          </a:prstGeom>
          <a:solidFill>
            <a:srgbClr val="EFF6FF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1" name="Shape 7"/>
          <p:cNvSpPr/>
          <p:nvPr/>
        </p:nvSpPr>
        <p:spPr>
          <a:xfrm>
            <a:off x="457200" y="3795434"/>
            <a:ext cx="45719" cy="822286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2" name="Text 8"/>
          <p:cNvSpPr/>
          <p:nvPr/>
        </p:nvSpPr>
        <p:spPr>
          <a:xfrm>
            <a:off x="640080" y="3657600"/>
            <a:ext cx="7955280" cy="960120"/>
          </a:xfrm>
          <a:prstGeom prst="rect">
            <a:avLst/>
          </a:prstGeom>
          <a:noFill/>
          <a:ln/>
        </p:spPr>
        <p:txBody>
          <a:bodyPr wrap="square" lIns="25400" tIns="0" rIns="0" bIns="2540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420 mẫu lừa đảo. Giả dịch vụ công (159) và Đe dọa quyền lực (127) chiếm 68%; nhóm Quà tặng (46) ít nhất nhưng tinh vi nhất — mỗi nhóm khai thác một điểm yếu tâm lý khác nhau.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457200" y="4773168"/>
            <a:ext cx="70408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 Phát hiện Tin nhắn &amp; Kịch bản Thao túng Tâm lý Lừa đảo nhắm vào Người cao tuổi tại Việt Nam</a:t>
            </a:r>
            <a:endParaRPr lang="en-US" sz="720" dirty="0"/>
          </a:p>
        </p:txBody>
      </p:sp>
      <p:sp>
        <p:nvSpPr>
          <p:cNvPr id="15" name="Text 10"/>
          <p:cNvSpPr/>
          <p:nvPr/>
        </p:nvSpPr>
        <p:spPr>
          <a:xfrm>
            <a:off x="7589520" y="47731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22</a:t>
            </a:r>
            <a:endParaRPr lang="en-US" sz="950" dirty="0"/>
          </a:p>
        </p:txBody>
      </p:sp>
    </p:spTree>
  </p:cSld>
  <p:clrMapOvr>
    <a:masterClrMapping/>
  </p:clrMapOvr>
  <p:transition spd="med">
    <p:pull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2 · Dữ liệu &amp; Phương pháp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Tiền xử lý &amp; Feature Engineering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1517904" cy="14173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54864" cy="141732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9" name="Text 7"/>
          <p:cNvSpPr/>
          <p:nvPr/>
        </p:nvSpPr>
        <p:spPr>
          <a:xfrm>
            <a:off x="594360" y="1216152"/>
            <a:ext cx="128930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Unicode NFC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554480"/>
            <a:ext cx="1289304" cy="9144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NFC [3]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Dấu thanh [5]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984248" y="1737360"/>
            <a:ext cx="141732" cy="228600"/>
          </a:xfrm>
          <a:prstGeom prst="rightArrow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2" name="Shape 10"/>
          <p:cNvSpPr/>
          <p:nvPr/>
        </p:nvSpPr>
        <p:spPr>
          <a:xfrm>
            <a:off x="2135124" y="1143000"/>
            <a:ext cx="1517904" cy="14173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3" name="Shape 11"/>
          <p:cNvSpPr/>
          <p:nvPr/>
        </p:nvSpPr>
        <p:spPr>
          <a:xfrm>
            <a:off x="2135124" y="1143000"/>
            <a:ext cx="54864" cy="141732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4" name="Text 12"/>
          <p:cNvSpPr/>
          <p:nvPr/>
        </p:nvSpPr>
        <p:spPr>
          <a:xfrm>
            <a:off x="2272284" y="1216152"/>
            <a:ext cx="128930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Teencode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272284" y="1554480"/>
            <a:ext cx="1289304" cy="9144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 từ viết tắt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+ 22 mẫu leet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62172" y="1737360"/>
            <a:ext cx="141732" cy="228600"/>
          </a:xfrm>
          <a:prstGeom prst="rightArrow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7" name="Shape 15"/>
          <p:cNvSpPr/>
          <p:nvPr/>
        </p:nvSpPr>
        <p:spPr>
          <a:xfrm>
            <a:off x="3813048" y="1143000"/>
            <a:ext cx="1517904" cy="14173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8" name="Shape 16"/>
          <p:cNvSpPr/>
          <p:nvPr/>
        </p:nvSpPr>
        <p:spPr>
          <a:xfrm>
            <a:off x="3813048" y="1143000"/>
            <a:ext cx="54864" cy="141732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9" name="Text 17"/>
          <p:cNvSpPr/>
          <p:nvPr/>
        </p:nvSpPr>
        <p:spPr>
          <a:xfrm>
            <a:off x="3950208" y="1216152"/>
            <a:ext cx="138074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Tách từ (PyVi)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950208" y="1554480"/>
            <a:ext cx="1289304" cy="9144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Ghép âm tiết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thành từ [4]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340096" y="1737360"/>
            <a:ext cx="141732" cy="228600"/>
          </a:xfrm>
          <a:prstGeom prst="rightArrow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22" name="Shape 20"/>
          <p:cNvSpPr/>
          <p:nvPr/>
        </p:nvSpPr>
        <p:spPr>
          <a:xfrm>
            <a:off x="5490972" y="1143000"/>
            <a:ext cx="1517904" cy="14173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23" name="Shape 21"/>
          <p:cNvSpPr/>
          <p:nvPr/>
        </p:nvSpPr>
        <p:spPr>
          <a:xfrm>
            <a:off x="5490972" y="1143000"/>
            <a:ext cx="54864" cy="141732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24" name="Text 22"/>
          <p:cNvSpPr/>
          <p:nvPr/>
        </p:nvSpPr>
        <p:spPr>
          <a:xfrm>
            <a:off x="5628132" y="1216152"/>
            <a:ext cx="128930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TF-IDF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628132" y="1554480"/>
            <a:ext cx="1289304" cy="9144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5.000 đặc trưng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n-gram (1, 2) [6]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018020" y="1737360"/>
            <a:ext cx="141732" cy="228600"/>
          </a:xfrm>
          <a:prstGeom prst="rightArrow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27" name="Shape 25"/>
          <p:cNvSpPr/>
          <p:nvPr/>
        </p:nvSpPr>
        <p:spPr>
          <a:xfrm>
            <a:off x="7168896" y="1143000"/>
            <a:ext cx="1517904" cy="14173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28" name="Shape 26"/>
          <p:cNvSpPr/>
          <p:nvPr/>
        </p:nvSpPr>
        <p:spPr>
          <a:xfrm>
            <a:off x="7168896" y="1143000"/>
            <a:ext cx="54864" cy="141732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29" name="Text 27"/>
          <p:cNvSpPr/>
          <p:nvPr/>
        </p:nvSpPr>
        <p:spPr>
          <a:xfrm>
            <a:off x="7306056" y="12161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Đặc trưng phụ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306056" y="1554480"/>
            <a:ext cx="1289304" cy="9144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đặc trưng: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URL, SĐT, OTP…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7200" y="2651760"/>
            <a:ext cx="8229600" cy="530352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2" name="Text 30"/>
          <p:cNvSpPr/>
          <p:nvPr/>
        </p:nvSpPr>
        <p:spPr>
          <a:xfrm>
            <a:off x="594360" y="2651760"/>
            <a:ext cx="7955280" cy="5897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gian đặc trưng vector đầu vào:  </a:t>
            </a: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[ TF-IDF(w₁, d), ..., TF-IDF(w₅₀₀₀, d) | f_meta₁, ..., f_meta₁₅ ]ᵀ ∈ ℝ⁵⁰¹⁵
</a:t>
            </a: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5.000 đặc trưng từ vựng n-gram + 15 đặc trưng miền tâm lý (URL, OTP, Hotline...)  •  Naive Bayes chỉ dùng 5.000 TF-IDF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3337560"/>
            <a:ext cx="8229600" cy="1280160"/>
          </a:xfrm>
          <a:prstGeom prst="rect">
            <a:avLst/>
          </a:prstGeom>
          <a:solidFill>
            <a:srgbClr val="FEF3C7"/>
          </a:solidFill>
          <a:ln w="63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34" name="Shape 32"/>
          <p:cNvSpPr/>
          <p:nvPr/>
        </p:nvSpPr>
        <p:spPr>
          <a:xfrm>
            <a:off x="457200" y="3337560"/>
            <a:ext cx="54864" cy="12801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5" name="Text 33"/>
          <p:cNvSpPr/>
          <p:nvPr/>
        </p:nvSpPr>
        <p:spPr>
          <a:xfrm>
            <a:off x="594360" y="3410712"/>
            <a:ext cx="8001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Zero-Leakage Protocol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594360" y="3749040"/>
            <a:ext cx="8001000" cy="77724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Chia Train/Test (stratified 80/20) TRƯỚC mọi bước học từ dữ liệu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fit() TF-IDF &amp; scaler chỉ trên X_train → transform() cho Train và Test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Vectorizer &amp; scaler không bao giờ “nhìn thấy” tập Test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457200" y="4773168"/>
            <a:ext cx="70408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 Phát hiện Tin nhắn &amp; Kịch bản Thao túng Tâm lý Lừa đảo nhắm vào Người cao tuổi tại Việt Nam</a:t>
            </a:r>
            <a:endParaRPr lang="en-US" sz="720" dirty="0"/>
          </a:p>
        </p:txBody>
      </p:sp>
      <p:sp>
        <p:nvSpPr>
          <p:cNvPr id="39" name="Text 36"/>
          <p:cNvSpPr/>
          <p:nvPr/>
        </p:nvSpPr>
        <p:spPr>
          <a:xfrm>
            <a:off x="7589520" y="47731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22</a:t>
            </a:r>
            <a:endParaRPr lang="en-US" sz="950" dirty="0"/>
          </a:p>
        </p:txBody>
      </p:sp>
    </p:spTree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  •  BÁO CÁO ĐỒ ÁN CS114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3474720" y="658368"/>
            <a:ext cx="2194560" cy="329184"/>
          </a:xfrm>
          <a:prstGeom prst="roundRect">
            <a:avLst>
              <a:gd name="adj" fmla="val 22222"/>
            </a:avLst>
          </a:prstGeom>
          <a:solidFill>
            <a:srgbClr val="1E5FC2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3474720" y="658368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3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&amp; Kết quả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291840" y="1783080"/>
            <a:ext cx="256032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7" name="Shape 5"/>
          <p:cNvSpPr/>
          <p:nvPr/>
        </p:nvSpPr>
        <p:spPr>
          <a:xfrm>
            <a:off x="1143000" y="1993392"/>
            <a:ext cx="6858000" cy="2560320"/>
          </a:xfrm>
          <a:prstGeom prst="roundRect">
            <a:avLst>
              <a:gd name="adj" fmla="val 4286"/>
            </a:avLst>
          </a:prstGeom>
          <a:solidFill>
            <a:srgbClr val="102E5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1417320" y="2240280"/>
            <a:ext cx="6309360" cy="21488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Đánh giá và so sánh định lượng 4 mô hình: XGBoost, Random Forest, SVM Linear và Naive Bayes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hiệu năng phân lớp: Đường cong ROC Curves &amp; Precision-Recall Curves (AUC ≥ 99%)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Giải thích quyết định mô hình XAI bằng SHAP TreeExplainer: Top-20 đặc trưng phân định lừa đảo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Thử nghiệm loại bỏ thẻ ẩn danh (Ablation Study): Chứng minh tính độc lập, không học vẹt nguồn</a:t>
            </a:r>
            <a:endParaRPr lang="en-US" sz="1200" dirty="0"/>
          </a:p>
        </p:txBody>
      </p:sp>
    </p:spTree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3 · Mô hình &amp; Kết quả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sánh 4 Mô hình Machine Learning</a:t>
            </a:r>
            <a:endParaRPr lang="en-US" sz="1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2212848"/>
        </p:xfrm>
        <a:graphic>
          <a:graphicData uri="http://schemas.openxmlformats.org/drawingml/2006/table">
            <a:tbl>
              <a:tblPr/>
              <a:tblGrid>
                <a:gridCol w="251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Mô hình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ROC-AUC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 (tốt nhất tổng thể)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93.18%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97.62%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95.35%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99.84%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SVM Linear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97.95%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93.10%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94.74%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99.86%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91.11%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97.62%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94.25%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 Bayes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95.44%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92.86%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88.64%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99.11%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401568"/>
            <a:ext cx="8229600" cy="896112"/>
          </a:xfrm>
          <a:prstGeom prst="rect">
            <a:avLst/>
          </a:prstGeom>
          <a:solidFill>
            <a:srgbClr val="FEF3C7"/>
          </a:solidFill>
          <a:ln w="63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9" name="Shape 6"/>
          <p:cNvSpPr/>
          <p:nvPr/>
        </p:nvSpPr>
        <p:spPr>
          <a:xfrm>
            <a:off x="457200" y="3383280"/>
            <a:ext cx="45720" cy="9144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0" name="Text 7"/>
          <p:cNvSpPr/>
          <p:nvPr/>
        </p:nvSpPr>
        <p:spPr>
          <a:xfrm>
            <a:off x="594360" y="3410712"/>
            <a:ext cx="8001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luận: XGBoost — mô hình tốt nhất tổng thể</a:t>
            </a:r>
            <a:endParaRPr lang="en-US" sz="1500" dirty="0"/>
          </a:p>
        </p:txBody>
      </p:sp>
      <p:sp>
        <p:nvSpPr>
          <p:cNvPr id="7" name="Text 8"/>
          <p:cNvSpPr/>
          <p:nvPr/>
        </p:nvSpPr>
        <p:spPr>
          <a:xfrm>
            <a:off x="594360" y="3749040"/>
            <a:ext cx="8001000" cy="4572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 lnSpcReduction="10000"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 = 2: chỉ bỏ lọt 2/84 tin lừa đảo trong tập test (Recall 97.62%) · FP = 6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 4 mô hình đều vượt chỉ tiêu F1 ≥ 88% và Recall ≥ 92% · Số in đậm xanh = tốt nhất theo cột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437083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Nguồn: models/*_metrics.json · tập test 439 mẫu (355 bình thường, 84 lừa đảo) · XGBoost [7], Random Forest [8], SVM [9] hiệu chỉnh xác suất [10], scikit-learn [11]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457200" y="4773168"/>
            <a:ext cx="70408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 Phát hiện Tin nhắn &amp; Kịch bản Thao túng Tâm lý Lừa đảo nhắm vào Người cao tuổi tại Việt Nam</a:t>
            </a:r>
            <a:endParaRPr lang="en-US" sz="720" dirty="0"/>
          </a:p>
        </p:txBody>
      </p:sp>
      <p:sp>
        <p:nvSpPr>
          <p:cNvPr id="15" name="Text 11"/>
          <p:cNvSpPr/>
          <p:nvPr/>
        </p:nvSpPr>
        <p:spPr>
          <a:xfrm>
            <a:off x="7589520" y="47731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22</a:t>
            </a:r>
            <a:endParaRPr lang="en-US" sz="950" dirty="0"/>
          </a:p>
        </p:txBody>
      </p:sp>
    </p:spTree>
  </p:cSld>
  <p:clrMapOvr>
    <a:masterClrMapping/>
  </p:clrMapOvr>
  <p:transition spd="med">
    <p:pull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3 · Mô hình &amp; Kết quả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ROC Curves &amp; Precision-Recall Curves</a:t>
            </a:r>
            <a:endParaRPr lang="en-US" sz="1800" dirty="0"/>
          </a:p>
        </p:txBody>
      </p:sp>
      <p:pic>
        <p:nvPicPr>
          <p:cNvPr id="7" name="Image 0" descr="/Users/tcdtist/dev/uit/cs114/assignments/Final/draft/scam-detection/reports/figures/roc_curves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617" y="1097280"/>
            <a:ext cx="3381087" cy="2743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3913632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ROC Curves — tất cả AUC ≥ 99%</a:t>
            </a:r>
            <a:endParaRPr lang="en-US" sz="1000" dirty="0"/>
          </a:p>
        </p:txBody>
      </p:sp>
      <p:pic>
        <p:nvPicPr>
          <p:cNvPr id="9" name="Image 1" descr="/Users/tcdtist/dev/uit/cs114/assignments/Final/draft/scam-detection/reports/figures/precision_recall_curv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8151" y="1097280"/>
            <a:ext cx="3385378" cy="2743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754880" y="3913632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Precision-Recall Curves — 4 mô hình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457200" y="4251960"/>
            <a:ext cx="8229600" cy="411480"/>
          </a:xfrm>
          <a:prstGeom prst="rect">
            <a:avLst/>
          </a:prstGeom>
          <a:solidFill>
            <a:srgbClr val="EFF6FF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2" name="Shape 8"/>
          <p:cNvSpPr/>
          <p:nvPr/>
        </p:nvSpPr>
        <p:spPr>
          <a:xfrm>
            <a:off x="457200" y="4251960"/>
            <a:ext cx="54864" cy="41148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3" name="Text 9"/>
          <p:cNvSpPr/>
          <p:nvPr/>
        </p:nvSpPr>
        <p:spPr>
          <a:xfrm>
            <a:off x="640080" y="4251960"/>
            <a:ext cx="7955280" cy="411480"/>
          </a:xfrm>
          <a:prstGeom prst="rect">
            <a:avLst/>
          </a:prstGeom>
          <a:noFill/>
          <a:ln/>
        </p:spPr>
        <p:txBody>
          <a:bodyPr wrap="square" lIns="25400" tIns="0" rIns="0" bIns="2540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 của 4 mô hình: 99.11% – 99.86% → cả 4 tách lớp rất tốt; khác biệt nằm ở FN/FP và Precision.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457200" y="4773168"/>
            <a:ext cx="70408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 Phát hiện Tin nhắn &amp; Kịch bản Thao túng Tâm lý Lừa đảo nhắm vào Người cao tuổi tại Việt Nam</a:t>
            </a:r>
            <a:endParaRPr lang="en-US" sz="720" dirty="0"/>
          </a:p>
        </p:txBody>
      </p:sp>
      <p:sp>
        <p:nvSpPr>
          <p:cNvPr id="16" name="Text 11"/>
          <p:cNvSpPr/>
          <p:nvPr/>
        </p:nvSpPr>
        <p:spPr>
          <a:xfrm>
            <a:off x="7589520" y="47731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22</a:t>
            </a:r>
            <a:endParaRPr lang="en-US" sz="950" dirty="0"/>
          </a:p>
        </p:txBody>
      </p:sp>
    </p:spTree>
  </p:cSld>
  <p:clrMapOvr>
    <a:masterClrMapping/>
  </p:clrMapOvr>
  <p:transition spd="med">
    <p:pull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3 · Mô hình &amp; Kết quả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Giải thích Mô hình — SHAP Analysis (XAI)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143000"/>
            <a:ext cx="4069080" cy="347472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TreeExplainer trên XGBoost [12], [13] — không phải “hộp đen”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Top-20 từ khóa quan trọng (đồng thuận 4 mô hình):</a:t>
            </a:r>
            <a:endParaRPr lang="en-US" sz="1300" dirty="0"/>
          </a:p>
          <a:p>
            <a:pPr marL="355600" lvl="1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Thiên về lừa đảo: mày, gấp, viện_phí, thuế, số_định_danh (100% tin chứa từ này là lừa đảo)</a:t>
            </a:r>
            <a:endParaRPr lang="en-US" sz="1300" dirty="0"/>
          </a:p>
          <a:p>
            <a:pPr marL="355600" lvl="1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Thiên về bình thường: money, number, time, liên_hệ 198, soạn, viettel (≤ 2% là lừa đảo)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Lưu ý: money, number, time, đường_dẫn… là thẻ ẩn danh có sẵn trong bộ dữ liệu gốc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Bỏ 453 đặc trưng chứa thẻ này: F1 XGBoost 95.35% → 94.25%, Recall giữ 97.62%</a:t>
            </a:r>
            <a:endParaRPr lang="en-US" sz="1300" dirty="0"/>
          </a:p>
        </p:txBody>
      </p:sp>
      <p:pic>
        <p:nvPicPr>
          <p:cNvPr id="8" name="Image 0" descr="/Users/tcdtist/dev/uit/cs114/assignments/Final/draft/scam-detection/reports/figures/shap_sum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217" y="777240"/>
            <a:ext cx="2922415" cy="34747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754880" y="438912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Phân bố tác động SHAP (TreeExplainer) trên mô hình XGBoost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457200" y="4773168"/>
            <a:ext cx="70408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 Phát hiện Tin nhắn &amp; Kịch bản Thao túng Tâm lý Lừa đảo nhắm vào Người cao tuổi tại Việt Nam</a:t>
            </a:r>
            <a:endParaRPr lang="en-US" sz="720" dirty="0"/>
          </a:p>
        </p:txBody>
      </p:sp>
      <p:sp>
        <p:nvSpPr>
          <p:cNvPr id="12" name="Text 8"/>
          <p:cNvSpPr/>
          <p:nvPr/>
        </p:nvSpPr>
        <p:spPr>
          <a:xfrm>
            <a:off x="7589520" y="47731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22</a:t>
            </a:r>
            <a:endParaRPr lang="en-US" sz="950" dirty="0"/>
          </a:p>
        </p:txBody>
      </p:sp>
    </p:spTree>
  </p:cSld>
  <p:clrMapOvr>
    <a:masterClrMapping/>
  </p:clrMapOvr>
  <p:transition spd="med">
    <p:pull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  •  BÁO CÁO ĐỒ ÁN CS114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3474720" y="658368"/>
            <a:ext cx="2194560" cy="329184"/>
          </a:xfrm>
          <a:prstGeom prst="roundRect">
            <a:avLst>
              <a:gd name="adj" fmla="val 22222"/>
            </a:avLst>
          </a:prstGeom>
          <a:solidFill>
            <a:srgbClr val="1E5FC2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3474720" y="658368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Ứng dụng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291840" y="1783080"/>
            <a:ext cx="256032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7" name="Shape 5"/>
          <p:cNvSpPr/>
          <p:nvPr/>
        </p:nvSpPr>
        <p:spPr>
          <a:xfrm>
            <a:off x="1143000" y="1993392"/>
            <a:ext cx="6858000" cy="2560320"/>
          </a:xfrm>
          <a:prstGeom prst="roundRect">
            <a:avLst>
              <a:gd name="adj" fmla="val 4286"/>
            </a:avLst>
          </a:prstGeom>
          <a:solidFill>
            <a:srgbClr val="102E5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1417320" y="2240280"/>
            <a:ext cx="6309360" cy="21488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Kiến trúc ứng dụng Streamlit hỗ trợ suy luận thời gian thực với mô hình tối ưu XGBoost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Thiết kế giao diện trợ năng chuyên biệt cho người cao tuổi: Phóng to chữ 150%, tương phản cao WCAG AA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Tích hợp hotline khẩn cấp 156 / 113 gọi một chạm và kiểm thử toàn diện 16/16 kịch bản Playwright</a:t>
            </a:r>
            <a:endParaRPr lang="en-US" sz="1200" dirty="0"/>
          </a:p>
        </p:txBody>
      </p:sp>
    </p:spTree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4 · Demo ứng dụng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Demo: Streamlit Web Application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115568"/>
            <a:ext cx="4937760" cy="3246120"/>
          </a:xfrm>
          <a:prstGeom prst="roundRect">
            <a:avLst>
              <a:gd name="adj" fmla="val 2817"/>
            </a:avLst>
          </a:prstGeom>
          <a:solidFill>
            <a:srgbClr val="0F172A"/>
          </a:solidFill>
          <a:ln w="190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4275222" y="678942"/>
            <a:ext cx="4787961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● ● ●   https://cs114-team10-elderly-scam-detection.streamlit.app •  Streamlit Live Demo</a:t>
            </a:r>
            <a:endParaRPr lang="en-US" sz="850" dirty="0"/>
          </a:p>
        </p:txBody>
      </p:sp>
      <p:pic>
        <p:nvPicPr>
          <p:cNvPr id="9" name="Image 0" descr="/Users/tcdtist/dev/uit/cs114/assignments/Final/draft/scam-detection/reports/figures/demo_03_scam_detection_verdict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9502" y="1110327"/>
            <a:ext cx="4915458" cy="327697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sp>
        <p:nvSpPr>
          <p:cNvPr id="10" name="Text 7"/>
          <p:cNvSpPr/>
          <p:nvPr/>
        </p:nvSpPr>
        <p:spPr>
          <a:xfrm>
            <a:off x="433290" y="4494276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diện phân tích tin nhắn thời gian thực với trợ năng người cao tuổi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669280" y="1143000"/>
            <a:ext cx="3017520" cy="347472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mô hình trong 1 ứng dụng (mặc định XGBoost)</a:t>
            </a:r>
            <a:endParaRPr lang="en-US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Chỉnh cỡ chữ 100% · 125% · 150%</a:t>
            </a:r>
            <a:endParaRPr lang="en-US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Tương phản chữ 14.6:1, vượt mức WCAG 2.1 AA (4.5:1) [14]</a:t>
            </a:r>
            <a:endParaRPr lang="en-US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Hotline khẩn cấp 156 / 113 gọi 1 chạm</a:t>
            </a:r>
            <a:endParaRPr lang="en-US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Dán tin nhắn → tự động phân tích</a:t>
            </a:r>
            <a:endParaRPr lang="en-US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Trích xuất 15 đặc trưng tâm lý theo thời gian thực</a:t>
            </a:r>
            <a:endParaRPr lang="en-US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Tối ưu điện thoại · 16/16 kiểm thử E2E Playwright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457200" y="4773168"/>
            <a:ext cx="70408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 Phát hiện Tin nhắn &amp; Kịch bản Thao túng Tâm lý Lừa đảo nhắm vào Người cao tuổi tại Việt Nam</a:t>
            </a:r>
            <a:endParaRPr lang="en-US" sz="720" dirty="0"/>
          </a:p>
        </p:txBody>
      </p:sp>
      <p:sp>
        <p:nvSpPr>
          <p:cNvPr id="14" name="Text 10"/>
          <p:cNvSpPr/>
          <p:nvPr/>
        </p:nvSpPr>
        <p:spPr>
          <a:xfrm>
            <a:off x="7589520" y="47731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22</a:t>
            </a:r>
            <a:endParaRPr lang="en-US" sz="950" dirty="0"/>
          </a:p>
        </p:txBody>
      </p:sp>
    </p:spTree>
  </p:cSld>
  <p:clrMapOvr>
    <a:masterClrMapping/>
  </p:clrMapOvr>
  <p:transition spd="med">
    <p:pull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  •  BÁO CÁO ĐỒ ÁN CS114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3474720" y="658368"/>
            <a:ext cx="2194560" cy="329184"/>
          </a:xfrm>
          <a:prstGeom prst="roundRect">
            <a:avLst>
              <a:gd name="adj" fmla="val 22222"/>
            </a:avLst>
          </a:prstGeom>
          <a:solidFill>
            <a:srgbClr val="1E5FC2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3474720" y="658368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5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luận &amp; Hướng phát triển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291840" y="1783080"/>
            <a:ext cx="256032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7" name="Shape 5"/>
          <p:cNvSpPr/>
          <p:nvPr/>
        </p:nvSpPr>
        <p:spPr>
          <a:xfrm>
            <a:off x="1143000" y="1993392"/>
            <a:ext cx="6858000" cy="2560320"/>
          </a:xfrm>
          <a:prstGeom prst="roundRect">
            <a:avLst>
              <a:gd name="adj" fmla="val 4286"/>
            </a:avLst>
          </a:prstGeom>
          <a:solidFill>
            <a:srgbClr val="102E5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1417320" y="2240280"/>
            <a:ext cx="6309360" cy="21488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kết các đóng góp chính và đối chiếu mức độ hoàn thành so với mục tiêu đề ra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Nhìn nhận khách quan các hạn chế nghiên cứu về quy mô tập test và phân bố nhãn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Lộ trình mở rộng: Tích hợp mô hình ngôn ngữ lớn PhoBERT và phát hiện lừa đảo qua giọng nói</a:t>
            </a:r>
            <a:endParaRPr lang="en-US" sz="1200" dirty="0"/>
          </a:p>
        </p:txBody>
      </p:sp>
    </p:spTree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5 · Kết luận &amp; Hướng phát triển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luận &amp; Hướng Phát triển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4023360" cy="2788920"/>
          </a:xfrm>
          <a:prstGeom prst="rect">
            <a:avLst/>
          </a:prstGeom>
          <a:solidFill>
            <a:srgbClr val="EFF6FF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54864" cy="278892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9" name="Text 7"/>
          <p:cNvSpPr/>
          <p:nvPr/>
        </p:nvSpPr>
        <p:spPr>
          <a:xfrm>
            <a:off x="594360" y="121615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 đạt được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94360" y="1554480"/>
            <a:ext cx="3794760" cy="22860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= 95.35% (mục tiêu ≥ 88%)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= 97.62% (mục tiêu ≥ 92%)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sánh 4 mô hình (tối thiểu 3)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2.193 mẫu thực tế, Zero Synthetic Text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XAI giải thích quyết định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thân thiện người cao tuổi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663440" y="1143000"/>
            <a:ext cx="4023360" cy="2788920"/>
          </a:xfrm>
          <a:prstGeom prst="rect">
            <a:avLst/>
          </a:prstGeom>
          <a:solidFill>
            <a:srgbClr val="FFFBEB"/>
          </a:solidFill>
          <a:ln w="63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2" name="Shape 10"/>
          <p:cNvSpPr/>
          <p:nvPr/>
        </p:nvSpPr>
        <p:spPr>
          <a:xfrm>
            <a:off x="4663440" y="1143000"/>
            <a:ext cx="54864" cy="27889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3" name="Text 11"/>
          <p:cNvSpPr/>
          <p:nvPr/>
        </p:nvSpPr>
        <p:spPr>
          <a:xfrm>
            <a:off x="4800600" y="121615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Hướng phát triển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00600" y="1554480"/>
            <a:ext cx="3794760" cy="22860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Tích hợp PhoBERT (BERT tiếng Việt) [15]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rộng sang lừa đảo qua giọng nói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cho ứng dụng ngân hàng / nhà mạng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rộng dataset lên 10.000+ mẫu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giám sát thời gian thực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EF3C7"/>
          </a:solidFill>
          <a:ln w="63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6" name="Shape 14"/>
          <p:cNvSpPr/>
          <p:nvPr/>
        </p:nvSpPr>
        <p:spPr>
          <a:xfrm>
            <a:off x="457200" y="4023360"/>
            <a:ext cx="54864" cy="5943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7" name="Text 15"/>
          <p:cNvSpPr/>
          <p:nvPr/>
        </p:nvSpPr>
        <p:spPr>
          <a:xfrm>
            <a:off x="640080" y="4023360"/>
            <a:ext cx="7955280" cy="594360"/>
          </a:xfrm>
          <a:prstGeom prst="rect">
            <a:avLst/>
          </a:prstGeom>
          <a:noFill/>
          <a:ln/>
        </p:spPr>
        <p:txBody>
          <a:bodyPr wrap="square" lIns="25400" tIns="0" rIns="0" bIns="2540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Hạn chế đã biết: tập test chỉ có 84 tin lừa đảo (mỗi FN làm Recall đổi ~1.2 điểm); dữ liệu gộp từ nhiều nguồn ẩn danh khác kiểu thẻ — bỏ toàn bộ thẻ, F1 XGBoost 95.35% → 94.25%.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57200" y="4773168"/>
            <a:ext cx="70408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 Phát hiện Tin nhắn &amp; Kịch bản Thao túng Tâm lý Lừa đảo nhắm vào Người cao tuổi tại Việt Nam</a:t>
            </a:r>
            <a:endParaRPr lang="en-US" sz="720" dirty="0"/>
          </a:p>
        </p:txBody>
      </p:sp>
      <p:sp>
        <p:nvSpPr>
          <p:cNvPr id="20" name="Text 17"/>
          <p:cNvSpPr/>
          <p:nvPr/>
        </p:nvSpPr>
        <p:spPr>
          <a:xfrm>
            <a:off x="7589520" y="47731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22</a:t>
            </a:r>
            <a:endParaRPr lang="en-US" sz="950" dirty="0"/>
          </a:p>
        </p:txBody>
      </p:sp>
    </p:spTree>
  </p:cSld>
  <p:clrMapOvr>
    <a:masterClrMapping/>
  </p:clrMapOvr>
  <p:transition spd="med">
    <p:pull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 tham khảo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Tài liệu tham khảo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078992"/>
            <a:ext cx="40233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spcAft>
                <a:spcPts val="150"/>
              </a:spcAft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NGUỒN DỮ LIỆU</a:t>
            </a:r>
            <a:endParaRPr lang="en-US" sz="1000" dirty="0"/>
          </a:p>
          <a:p>
            <a:pPr marL="171450" indent="-171450">
              <a:lnSpc>
                <a:spcPct val="95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</a:t>
            </a: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N. T. T. Tran et al., “Vietnamese SMS Dataset with Quality Assurance,” IEEE Access, 2026 (theo trích dẫn của tác giả; chưa có tập/DOI). GitHub: trannguyenthaituan251209/vietnamese_sms_dataset.</a:t>
            </a:r>
            <a:endParaRPr lang="en-US" sz="1000" dirty="0"/>
          </a:p>
          <a:p>
            <a:pPr marL="171450" indent="-171450">
              <a:lnSpc>
                <a:spcPct val="95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</a:t>
            </a: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Nguồn bổ sung của tập lừa đảo (249/420 mẫu): GitHub ghitatruongle/lachancuocgoi, duynguyenhoang22/SMS_Phishing_Detection và ViSmish_Detection; báo chí, VTV24 (13 mẫu).</a:t>
            </a:r>
            <a:endParaRPr lang="en-US" sz="1000" dirty="0"/>
          </a:p>
          <a:p>
            <a:pPr marL="0" indent="0">
              <a:lnSpc>
                <a:spcPct val="95000"/>
              </a:lnSpc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TIỀN XỬ LÝ NLP</a:t>
            </a:r>
            <a:endParaRPr lang="en-US" sz="1000" dirty="0"/>
          </a:p>
          <a:p>
            <a:pPr marL="171450" indent="-171450">
              <a:lnSpc>
                <a:spcPct val="95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</a:t>
            </a: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Unicode Consortium, “UAX #15: Unicode Normalization Forms,” Unicode 18.0.0, 12 Aug. 2026.</a:t>
            </a:r>
            <a:endParaRPr lang="en-US" sz="1000" dirty="0"/>
          </a:p>
          <a:p>
            <a:pPr marL="171450" indent="-171450">
              <a:lnSpc>
                <a:spcPct val="95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</a:t>
            </a: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V.-T. Tran, “PyVi: Python Vietnamese Toolkit,” v0.1.1. GitHub: trungtv/pyvi.</a:t>
            </a:r>
            <a:endParaRPr lang="en-US" sz="1000" dirty="0"/>
          </a:p>
          <a:p>
            <a:pPr marL="171450" indent="-171450">
              <a:lnSpc>
                <a:spcPct val="95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</a:t>
            </a: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Underthesea NLP, “underthesea: Vietnamese NLP Toolkit,” v9.5.0. GitHub: undertheseanlp/underthesea.</a:t>
            </a:r>
            <a:endParaRPr lang="en-US" sz="1000" dirty="0"/>
          </a:p>
          <a:p>
            <a:pPr marL="171450" indent="-171450">
              <a:lnSpc>
                <a:spcPct val="95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</a:t>
            </a: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G. Salton and C. Buckley, “Term-weighting approaches in automatic text retrieval,” Inf. Process. Manage., 24(5):513–523, 1988.</a:t>
            </a:r>
            <a:endParaRPr lang="en-US" sz="1000" dirty="0"/>
          </a:p>
          <a:p>
            <a:pPr marL="0" indent="0">
              <a:lnSpc>
                <a:spcPct val="95000"/>
              </a:lnSpc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THUẬT TOÁN HỌC MÁY</a:t>
            </a:r>
            <a:endParaRPr lang="en-US" sz="1000" dirty="0"/>
          </a:p>
          <a:p>
            <a:pPr marL="171450" indent="-171450">
              <a:lnSpc>
                <a:spcPct val="95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</a:t>
            </a: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Chen and C. Guestrin, “XGBoost: A scalable tree boosting system,” KDD 2016, pp. 785–794.</a:t>
            </a:r>
            <a:endParaRPr lang="en-US" sz="1000" dirty="0"/>
          </a:p>
          <a:p>
            <a:pPr marL="171450" indent="-171450">
              <a:lnSpc>
                <a:spcPct val="95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</a:t>
            </a: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L. Breiman, “Random forests,” Mach. Learn., 45(1):5–32, 2001.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663440" y="1078992"/>
            <a:ext cx="40233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spcAft>
                <a:spcPts val="150"/>
              </a:spcAft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THUẬT TOÁN HỌC MÁY (TIẾP)</a:t>
            </a:r>
            <a:endParaRPr lang="en-US" sz="1000" dirty="0"/>
          </a:p>
          <a:p>
            <a:pPr marL="171450" indent="-171450">
              <a:lnSpc>
                <a:spcPct val="95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</a:t>
            </a: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Cortes and V. Vapnik, “Support-vector networks,” Mach. Learn., 20(3):273–297, 1995.</a:t>
            </a:r>
            <a:endParaRPr lang="en-US" sz="1000" dirty="0"/>
          </a:p>
          <a:p>
            <a:pPr marL="171450" indent="-171450">
              <a:lnSpc>
                <a:spcPct val="95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</a:t>
            </a: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 Platt, “Probabilities for SV machines,” in Advances in Large-Margin Classifiers, MIT Press, 2000, pp. 61–74.</a:t>
            </a:r>
            <a:endParaRPr lang="en-US" sz="1000" dirty="0"/>
          </a:p>
          <a:p>
            <a:pPr marL="171450" indent="-171450">
              <a:lnSpc>
                <a:spcPct val="95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</a:t>
            </a: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 Pedregosa et al., “Scikit-learn: Machine learning in Python,” JMLR 12:2825–2830, 2011.</a:t>
            </a:r>
            <a:endParaRPr lang="en-US" sz="1000" dirty="0"/>
          </a:p>
          <a:p>
            <a:pPr marL="0" indent="0">
              <a:lnSpc>
                <a:spcPct val="95000"/>
              </a:lnSpc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GIẢI THÍCH MÔ HÌNH (XAI)</a:t>
            </a:r>
            <a:endParaRPr lang="en-US" sz="1000" dirty="0"/>
          </a:p>
          <a:p>
            <a:pPr marL="171450" indent="-171450">
              <a:lnSpc>
                <a:spcPct val="95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</a:t>
            </a: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M. Lundberg and S.-I. Lee, “A unified approach to interpreting model predictions,” NeurIPS 30, 2017.</a:t>
            </a:r>
            <a:endParaRPr lang="en-US" sz="1000" dirty="0"/>
          </a:p>
          <a:p>
            <a:pPr marL="171450" indent="-171450">
              <a:lnSpc>
                <a:spcPct val="95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 </a:t>
            </a: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M. Lundberg et al., “From local explanations to global understanding with explainable AI for trees,” Nat. Mach. Intell., 2(1):56–67, 2020.</a:t>
            </a:r>
            <a:endParaRPr lang="en-US" sz="1000" dirty="0"/>
          </a:p>
          <a:p>
            <a:pPr marL="0" indent="0">
              <a:lnSpc>
                <a:spcPct val="95000"/>
              </a:lnSpc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TRỢ NĂNG WEB</a:t>
            </a:r>
            <a:endParaRPr lang="en-US" sz="1000" dirty="0"/>
          </a:p>
          <a:p>
            <a:pPr marL="171450" indent="-171450">
              <a:lnSpc>
                <a:spcPct val="95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[14] </a:t>
            </a: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W3C, “Web Content Accessibility Guidelines (WCAG) 2.1,” Recommendation, 5 Jun. 2018 (updated 6 May 2025).</a:t>
            </a:r>
            <a:endParaRPr lang="en-US" sz="1000" dirty="0"/>
          </a:p>
          <a:p>
            <a:pPr marL="0" indent="0">
              <a:lnSpc>
                <a:spcPct val="95000"/>
              </a:lnSpc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HƯỚNG PHÁT TRIỂN</a:t>
            </a:r>
            <a:endParaRPr lang="en-US" sz="1000" dirty="0"/>
          </a:p>
          <a:p>
            <a:pPr marL="171450" indent="-171450">
              <a:lnSpc>
                <a:spcPct val="95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[15] </a:t>
            </a: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Q. Nguyen and A. T. Nguyen, “PhoBERT: Pre-trained language models for Vietnamese,” Findings of EMNLP, 2020, pp. 1037–1042.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438912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Nguồn trực tuyến truy cập 21/09/2026 · [1] giấy phép CC BY 4.0 theo README · Danh sách đầy đủ 18 tài liệu: báo cáo Word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57200" y="4773168"/>
            <a:ext cx="70408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 Phát hiện Tin nhắn &amp; Kịch bản Thao túng Tâm lý Lừa đảo nhắm vào Người cao tuổi tại Việt Nam</a:t>
            </a:r>
            <a:endParaRPr lang="en-US" sz="720" dirty="0"/>
          </a:p>
        </p:txBody>
      </p:sp>
      <p:sp>
        <p:nvSpPr>
          <p:cNvPr id="12" name="Text 9"/>
          <p:cNvSpPr/>
          <p:nvPr/>
        </p:nvSpPr>
        <p:spPr>
          <a:xfrm>
            <a:off x="7589520" y="47731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22</a:t>
            </a:r>
            <a:endParaRPr lang="en-US" sz="950" dirty="0"/>
          </a:p>
        </p:txBody>
      </p:sp>
    </p:spTree>
  </p:cSld>
  <p:clrMapOvr>
    <a:masterClrMapping/>
  </p:clrMapOvr>
  <p:transition spd="med">
    <p:pull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cdtist/dev/uit/cs114/assignments/Final/draft/scam-detection/reports/slides/assets/logo_uit_dhqg_tra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411480"/>
            <a:ext cx="2560320" cy="37983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130468"/>
            <a:ext cx="8229600" cy="12698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CHÂN THÀNH CẢM ƠN THẦY VÀ CÁC BẠN</a:t>
            </a:r>
            <a:endParaRPr lang="en-US" sz="2400" dirty="0"/>
          </a:p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ĐÃ LẮNG NGHE BÁO CÁO!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291840" y="2560320"/>
            <a:ext cx="256032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2"/>
          <p:cNvSpPr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10 — CS114.F31.CN2.TTNT  |  Tháng 09/2026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457200" y="31546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Đặng Chí Thanh  ·  25730067@ms.uit.edu.vn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Bùi Thị Mỷ Cẩm  ·  25730013@ms.uit.edu.vn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Hoàng Cao Sơn  ·  25730061@ms.uit.edu.vn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57200" y="44577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KHOA KHOA HỌC MÁY TÍNH  •  TRƯỜNG ĐẠI HỌC CÔNG NGHỆ THÔNG TIN, ĐHQG-HCM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  •  BÁO CÁO ĐỒ ÁN CS114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3474720" y="658368"/>
            <a:ext cx="2194560" cy="329184"/>
          </a:xfrm>
          <a:prstGeom prst="roundRect">
            <a:avLst>
              <a:gd name="adj" fmla="val 22222"/>
            </a:avLst>
          </a:prstGeom>
          <a:solidFill>
            <a:srgbClr val="1E5FC2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3474720" y="658368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PHỤ LỤC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Phụ lục &amp; Backup Q&amp;A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291840" y="1783080"/>
            <a:ext cx="256032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7" name="Shape 5"/>
          <p:cNvSpPr/>
          <p:nvPr/>
        </p:nvSpPr>
        <p:spPr>
          <a:xfrm>
            <a:off x="1143000" y="1993392"/>
            <a:ext cx="6858000" cy="2560320"/>
          </a:xfrm>
          <a:prstGeom prst="roundRect">
            <a:avLst>
              <a:gd name="adj" fmla="val 4286"/>
            </a:avLst>
          </a:prstGeom>
          <a:solidFill>
            <a:srgbClr val="102E5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1417320" y="2240280"/>
            <a:ext cx="6309360" cy="21488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Bảng tổng hợp chi tiết siêu tham số tối ưu và chiến lược tinh chỉnh Hyperparameter Tuning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chuyên sâu Ma trận Nhầm lẫn (Confusion Matrices) và đánh đổi sai số FN / FP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Đồ thị Learning Curves: Phân tích mức độ tổng quát hóa và khoảng cách Train vs Validation</a:t>
            </a:r>
            <a:endParaRPr lang="en-US" sz="1200" dirty="0"/>
          </a:p>
        </p:txBody>
      </p:sp>
    </p:spTree>
  </p:cSld>
  <p:clrMapOvr>
    <a:masterClrMapping/>
  </p:clrMapOvr>
  <p:transition spd="slow"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Phụ lục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Backup: Siêu tham số &amp; Chiến lược tinh chỉnh</a:t>
            </a:r>
            <a:endParaRPr lang="en-US" sz="1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3127248"/>
        </p:xfrm>
        <a:graphic>
          <a:graphicData uri="http://schemas.openxmlformats.org/drawingml/2006/table">
            <a:tbl>
              <a:tblPr/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94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Mô hình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Siêu tham số tốt nhất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Tinh chỉnh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 F1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n_estimators=300, max_depth=5, learning_rate=0.05, subsample=0.7, colsample_bytree=0.8, scale_pos_weight=4.22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RandomizedSearchCV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(n_iter=25, 5-fold)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SVM Linear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C=10 (LinearSVC + CalibratedClassifierCV 5-fold)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GridSearchCV (5-fold)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0.9567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n_estimators=200, max_depth=50, min_samples_split=2, min_samples_leaf=2, max_features=0.2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RandomizedSearchCV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(n_iter=25, 5-fold)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0.9479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 Bayes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alpha=0.01 (MultinomialNB) — chỉ 5.000 đặc trưng TF-IDF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GridSearchCV (5-fold)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Nguồn: models/*_metrics.json · CV F1 = điểm F1 trung bình cross-validation trên tập train (1.754 mẫu).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457200" y="4773168"/>
            <a:ext cx="70408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 Phát hiện Tin nhắn &amp; Kịch bản Thao túng Tâm lý Lừa đảo nhắm vào Người cao tuổi tại Việt Nam</a:t>
            </a:r>
            <a:endParaRPr lang="en-US" sz="720" dirty="0"/>
          </a:p>
        </p:txBody>
      </p:sp>
      <p:sp>
        <p:nvSpPr>
          <p:cNvPr id="11" name="Text 7"/>
          <p:cNvSpPr/>
          <p:nvPr/>
        </p:nvSpPr>
        <p:spPr>
          <a:xfrm>
            <a:off x="7589520" y="47731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22</a:t>
            </a:r>
            <a:endParaRPr lang="en-US" sz="950" dirty="0"/>
          </a:p>
        </p:txBody>
      </p:sp>
    </p:spTree>
  </p:cSld>
  <p:clrMapOvr>
    <a:masterClrMapping/>
  </p:clrMapOvr>
  <p:transition spd="med">
    <p:pull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Phụ lục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Backup: Confusion Matrices — Cả 4 Mô hình</a:t>
            </a:r>
            <a:endParaRPr lang="en-US" sz="1800" dirty="0"/>
          </a:p>
        </p:txBody>
      </p:sp>
      <p:pic>
        <p:nvPicPr>
          <p:cNvPr id="7" name="Image 0" descr="/Users/tcdtist/dev/uit/cs114/assignments/Final/draft/scam-detection/reports/figures/confusion_matrices_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602" y="1097280"/>
            <a:ext cx="4382316" cy="356616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</p:pic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143000"/>
          <a:ext cx="3657600" cy="182880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Mô hình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 (bỏ lọt)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 (báo sai)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SVM Linear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 Bayes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029200" y="3063240"/>
            <a:ext cx="3657600" cy="155448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0" name="Shape 6"/>
          <p:cNvSpPr/>
          <p:nvPr/>
        </p:nvSpPr>
        <p:spPr>
          <a:xfrm>
            <a:off x="5029200" y="3063240"/>
            <a:ext cx="54864" cy="155448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1" name="Text 7"/>
          <p:cNvSpPr/>
          <p:nvPr/>
        </p:nvSpPr>
        <p:spPr>
          <a:xfrm>
            <a:off x="5166360" y="3136392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Cách đọc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5166360" y="3474720"/>
            <a:ext cx="3429000" cy="105156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 = tin lừa đảo bị bỏ lọt — nguy hiểm nhất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 = tin bình thường bị báo nhầm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Tập test: 84 lừa đảo + 355 bình thường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457200" y="4773168"/>
            <a:ext cx="70408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 Phát hiện Tin nhắn &amp; Kịch bản Thao túng Tâm lý Lừa đảo nhắm vào Người cao tuổi tại Việt Nam</a:t>
            </a:r>
            <a:endParaRPr lang="en-US" sz="720" dirty="0"/>
          </a:p>
        </p:txBody>
      </p:sp>
      <p:sp>
        <p:nvSpPr>
          <p:cNvPr id="15" name="Text 10"/>
          <p:cNvSpPr/>
          <p:nvPr/>
        </p:nvSpPr>
        <p:spPr>
          <a:xfrm>
            <a:off x="7589520" y="47731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22</a:t>
            </a:r>
            <a:endParaRPr lang="en-US" sz="950" dirty="0"/>
          </a:p>
        </p:txBody>
      </p:sp>
    </p:spTree>
  </p:cSld>
  <p:clrMapOvr>
    <a:masterClrMapping/>
  </p:clrMapOvr>
  <p:transition spd="med">
    <p:pull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Phụ lục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Backup: Learning Curves — Train vs Validation</a:t>
            </a:r>
            <a:endParaRPr lang="en-US" sz="1800" dirty="0"/>
          </a:p>
        </p:txBody>
      </p:sp>
      <p:pic>
        <p:nvPicPr>
          <p:cNvPr id="7" name="Image 0" descr="/Users/tcdtist/dev/uit/cs114/assignments/Final/draft/scam-detection/reports/figures/learning_curves_sum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972" y="1097280"/>
            <a:ext cx="5190537" cy="35661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852160" y="1143000"/>
            <a:ext cx="2834640" cy="34747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9" name="Shape 6"/>
          <p:cNvSpPr/>
          <p:nvPr/>
        </p:nvSpPr>
        <p:spPr>
          <a:xfrm>
            <a:off x="5852160" y="1143000"/>
            <a:ext cx="54864" cy="347472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0" name="Text 7"/>
          <p:cNvSpPr/>
          <p:nvPr/>
        </p:nvSpPr>
        <p:spPr>
          <a:xfrm>
            <a:off x="5989320" y="1216152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Nhận định trung thực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989320" y="1554480"/>
            <a:ext cx="2606040" cy="29718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F1 ≈ 0.96–1.0, Validation F1 ≈ 0.91–0.96 → còn khoảng cách 3–6 điểm (overfit nhẹ)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F1 của XGBoost, SVM, RF vẫn tăng theo số mẫu → thêm dữ liệu sẽ giúp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F1 (~0.96) sát F1 test (0.95) → khái quát ổn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457200" y="4773168"/>
            <a:ext cx="70408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 Phát hiện Tin nhắn &amp; Kịch bản Thao túng Tâm lý Lừa đảo nhắm vào Người cao tuổi tại Việt Nam</a:t>
            </a:r>
            <a:endParaRPr lang="en-US" sz="720" dirty="0"/>
          </a:p>
        </p:txBody>
      </p:sp>
      <p:sp>
        <p:nvSpPr>
          <p:cNvPr id="14" name="Text 10"/>
          <p:cNvSpPr/>
          <p:nvPr/>
        </p:nvSpPr>
        <p:spPr>
          <a:xfrm>
            <a:off x="7589520" y="47731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22</a:t>
            </a:r>
            <a:endParaRPr lang="en-US" sz="950" dirty="0"/>
          </a:p>
        </p:txBody>
      </p:sp>
    </p:spTree>
  </p:cSld>
  <p:clrMapOvr>
    <a:masterClrMapping/>
  </p:clrMapOvr>
  <p:transition spd="med">
    <p:pull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5501</Words>
  <Application>Microsoft Macintosh PowerPoint</Application>
  <PresentationFormat>On-screen Show (16:9)</PresentationFormat>
  <Paragraphs>395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UIT — ĐHQG-HCM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Nghiên cứu và Xây dựng Hệ thống Phát hiện Tin nhắn &amp; Kịch bản Thao túng Tâm lý Lừa đảo nhắm vào Người cao tuổi tại Việt Nam</dc:title>
  <dc:subject>CS114 — Phase 09 Defense Presentation</dc:subject>
  <dc:creator>Nhóm 10 — Đặng Chí Thanh, Bùi Thị Mỷ Cẩm, Hoàng Cao Sơn</dc:creator>
  <cp:lastModifiedBy>Đặng Chí Thanh</cp:lastModifiedBy>
  <cp:revision>3</cp:revision>
  <dcterms:created xsi:type="dcterms:W3CDTF">2026-09-21T15:37:55Z</dcterms:created>
  <dcterms:modified xsi:type="dcterms:W3CDTF">2026-09-21T16:01:12Z</dcterms:modified>
</cp:coreProperties>
</file>